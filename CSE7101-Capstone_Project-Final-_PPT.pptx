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5"/>
  </p:notesMasterIdLst>
  <p:sldIdLst>
    <p:sldId id="256" r:id="rId2"/>
    <p:sldId id="269" r:id="rId3"/>
    <p:sldId id="257" r:id="rId4"/>
    <p:sldId id="274" r:id="rId5"/>
    <p:sldId id="275" r:id="rId6"/>
    <p:sldId id="273" r:id="rId7"/>
    <p:sldId id="272" r:id="rId8"/>
    <p:sldId id="271" r:id="rId9"/>
    <p:sldId id="276" r:id="rId10"/>
    <p:sldId id="268" r:id="rId11"/>
    <p:sldId id="270" r:id="rId12"/>
    <p:sldId id="265" r:id="rId13"/>
    <p:sldId id="266"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51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3956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DB1FE8E6-9101-F559-793F-EB28A62BC9F5}"/>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471736EE-1D93-6C91-A93B-D6AA82CAE2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4FD637D8-0802-5C7A-8988-C95B62EB17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322060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5EE7A942-677D-43E3-5E84-7C31E4AD59F3}"/>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A14DE1C5-23A6-5369-FEEF-12C02E5A749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11AA37CF-FE48-4189-2E92-5C6FAA0F9F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590052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US" sz="2400" dirty="0">
                <a:solidFill>
                  <a:schemeClr val="tx1"/>
                </a:solidFill>
                <a:latin typeface="Cambria" panose="02040503050406030204" pitchFamily="18" charset="0"/>
                <a:ea typeface="Cambria" panose="02040503050406030204" pitchFamily="18" charset="0"/>
              </a:rPr>
              <a:t>AI-Powered Autonomous Security Robotic Dog</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9" y="1837335"/>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CSE_162</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algn="ctr">
              <a:spcBef>
                <a:spcPts val="400"/>
              </a:spcBef>
              <a:buClr>
                <a:srgbClr val="17365D"/>
              </a:buClr>
              <a:buSzPts val="2000"/>
            </a:pPr>
            <a:r>
              <a:rPr lang="en-IN" sz="2000" b="1" dirty="0" err="1">
                <a:solidFill>
                  <a:srgbClr val="17365D"/>
                </a:solidFill>
                <a:latin typeface="Cambria" panose="02040503050406030204" pitchFamily="18" charset="0"/>
                <a:ea typeface="Cambria" panose="02040503050406030204" pitchFamily="18" charset="0"/>
                <a:cs typeface="Verdana"/>
                <a:sym typeface="Verdana"/>
              </a:rPr>
              <a:t>Ms.Pushpalatha</a:t>
            </a:r>
            <a:r>
              <a:rPr lang="en-IN" sz="2000" b="1" dirty="0">
                <a:solidFill>
                  <a:srgbClr val="17365D"/>
                </a:solidFill>
                <a:latin typeface="Cambria" panose="02040503050406030204" pitchFamily="18" charset="0"/>
                <a:ea typeface="Cambria" panose="02040503050406030204" pitchFamily="18" charset="0"/>
                <a:cs typeface="Verdana"/>
                <a:sym typeface="Verdana"/>
              </a:rPr>
              <a:t> M</a:t>
            </a:r>
            <a:r>
              <a:rPr lang="en-IN" sz="1700" b="1" dirty="0">
                <a:solidFill>
                  <a:srgbClr val="17365D"/>
                </a:solidFill>
                <a:latin typeface="Cambria" panose="02040503050406030204" pitchFamily="18" charset="0"/>
                <a:ea typeface="Cambria" panose="02040503050406030204" pitchFamily="18" charset="0"/>
                <a:cs typeface="Verdana"/>
                <a:sym typeface="Verdana"/>
              </a:rPr>
              <a:t> </a:t>
            </a:r>
            <a:r>
              <a:rPr lang="en-IN"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&amp;  </a:t>
            </a:r>
          </a:p>
          <a:p>
            <a:pPr algn="ctr">
              <a:spcBef>
                <a:spcPts val="400"/>
              </a:spcBef>
              <a:buClr>
                <a:srgbClr val="17365D"/>
              </a:buClr>
              <a:buSzPts val="2000"/>
            </a:pPr>
            <a:r>
              <a:rPr lang="en-IN"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Dr. Mohammed </a:t>
            </a:r>
            <a:r>
              <a:rPr lang="en-IN" sz="2000" b="1" i="0" u="none" strike="noStrike" cap="none" dirty="0" err="1">
                <a:solidFill>
                  <a:srgbClr val="17365D"/>
                </a:solidFill>
                <a:latin typeface="Cambria" panose="02040503050406030204" pitchFamily="18" charset="0"/>
                <a:ea typeface="Cambria" panose="02040503050406030204" pitchFamily="18" charset="0"/>
                <a:cs typeface="Verdana"/>
                <a:sym typeface="Verdana"/>
              </a:rPr>
              <a:t>Mujeer</a:t>
            </a:r>
            <a:r>
              <a:rPr lang="en-IN"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 Ulla</a:t>
            </a:r>
          </a:p>
          <a:p>
            <a:pPr marL="0" marR="0" lvl="0" indent="0" algn="ctr"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Associate Professor </a:t>
            </a:r>
          </a:p>
          <a:p>
            <a:pPr marL="0" marR="0" lvl="0" indent="0" algn="ctr"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3803865009"/>
              </p:ext>
            </p:extLst>
          </p:nvPr>
        </p:nvGraphicFramePr>
        <p:xfrm>
          <a:off x="530760" y="242631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197022">
                <a:tc>
                  <a:txBody>
                    <a:bodyPr/>
                    <a:lstStyle/>
                    <a:p>
                      <a:pPr marL="0" marR="0" lvl="1" indent="0" algn="ctr" rtl="0">
                        <a:spcBef>
                          <a:spcPts val="0"/>
                        </a:spcBef>
                        <a:spcAft>
                          <a:spcPts val="0"/>
                        </a:spcAft>
                        <a:buNone/>
                      </a:pPr>
                      <a:r>
                        <a:rPr lang="en-GB" sz="1800" b="1" u="none" strike="noStrike" cap="none" dirty="0">
                          <a:solidFill>
                            <a:srgbClr val="17365D"/>
                          </a:solidFill>
                        </a:rPr>
                        <a:t>Roll Number</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lang="en-IN"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197022">
                <a:tc>
                  <a:txBody>
                    <a:bodyPr/>
                    <a:lstStyle/>
                    <a:p>
                      <a:pPr marL="0" marR="0" lvl="0" indent="0" algn="ctr" rtl="0">
                        <a:spcBef>
                          <a:spcPts val="0"/>
                        </a:spcBef>
                        <a:spcAft>
                          <a:spcPts val="0"/>
                        </a:spcAft>
                        <a:buFont typeface="+mj-lt"/>
                        <a:buNone/>
                      </a:pPr>
                      <a:r>
                        <a:rPr lang="en-IN" sz="1800" u="none" strike="noStrike" cap="none" dirty="0"/>
                        <a:t>20221CSE0106       </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Dashami S</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197022">
                <a:tc>
                  <a:txBody>
                    <a:bodyPr/>
                    <a:lstStyle/>
                    <a:p>
                      <a:pPr marL="0" marR="0" lvl="0" indent="0" algn="ctr" rtl="0">
                        <a:spcBef>
                          <a:spcPts val="0"/>
                        </a:spcBef>
                        <a:spcAft>
                          <a:spcPts val="0"/>
                        </a:spcAft>
                        <a:buNone/>
                      </a:pPr>
                      <a:r>
                        <a:rPr lang="en-IN" sz="1800" u="none" strike="noStrike" cap="none" dirty="0"/>
                        <a:t>20221CSE0075</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Hemanth G</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197022">
                <a:tc>
                  <a:txBody>
                    <a:bodyPr/>
                    <a:lstStyle/>
                    <a:p>
                      <a:pPr marL="0" marR="0" lvl="0" indent="0" algn="ctr" rtl="0">
                        <a:spcBef>
                          <a:spcPts val="0"/>
                        </a:spcBef>
                        <a:spcAft>
                          <a:spcPts val="0"/>
                        </a:spcAft>
                        <a:buNone/>
                      </a:pPr>
                      <a:r>
                        <a:rPr lang="en-IN" sz="1800" u="none" strike="noStrike" cap="none" dirty="0"/>
                        <a:t>20221CSE0224</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Harsha Vardhana T</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197022">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197022">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Final Review </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B.TECH Computer Science and Engineering.</a:t>
            </a: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dirty="0">
                <a:solidFill>
                  <a:schemeClr val="tx1"/>
                </a:solidFill>
                <a:latin typeface="Cambria" panose="02040503050406030204" pitchFamily="18" charset="0"/>
                <a:ea typeface="Cambria" panose="02040503050406030204" pitchFamily="18" charset="0"/>
                <a:cs typeface="Verdana"/>
                <a:sym typeface="Verdana"/>
              </a:rPr>
              <a:t>Dr. Asif Mohammed &amp; Dr. Blessed Prince </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Jayavadivel</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Ravi &amp;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Mr.Muthuraju</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V </a:t>
            </a:r>
            <a:endParaRPr lang="en-US" sz="1800" b="1" dirty="0">
              <a:solidFill>
                <a:schemeClr val="tx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CSE_162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lnSpcReduction="10000"/>
          </a:bodyPr>
          <a:lstStyle/>
          <a:p>
            <a:pPr marL="342900" lvl="0" indent="-190500" algn="just">
              <a:spcBef>
                <a:spcPts val="0"/>
              </a:spcBef>
              <a:buNone/>
            </a:pPr>
            <a:r>
              <a:rPr lang="en-US" dirty="0">
                <a:latin typeface="Cambria" panose="02040503050406030204" pitchFamily="18" charset="0"/>
                <a:ea typeface="Cambria" panose="02040503050406030204" pitchFamily="18" charset="0"/>
              </a:rPr>
              <a:t>Organization: Presidency University</a:t>
            </a:r>
          </a:p>
          <a:p>
            <a:pPr marL="342900" lvl="0" indent="-190500" algn="just">
              <a:lnSpc>
                <a:spcPct val="200000"/>
              </a:lnSpc>
              <a:spcBef>
                <a:spcPts val="0"/>
              </a:spcBef>
              <a:buNone/>
            </a:pPr>
            <a:r>
              <a:rPr lang="en-US" dirty="0">
                <a:latin typeface="Cambria" panose="02040503050406030204" pitchFamily="18" charset="0"/>
                <a:ea typeface="Cambria" panose="02040503050406030204" pitchFamily="18" charset="0"/>
              </a:rPr>
              <a:t>Category (Hardware / Software / Both) : Hardware</a:t>
            </a:r>
          </a:p>
          <a:p>
            <a:pPr marL="342900" lvl="0" indent="-190500" algn="just">
              <a:lnSpc>
                <a:spcPct val="200000"/>
              </a:lnSpc>
              <a:spcBef>
                <a:spcPts val="0"/>
              </a:spcBef>
              <a:buNone/>
            </a:pPr>
            <a:r>
              <a:rPr lang="en-US" dirty="0">
                <a:latin typeface="Cambria" panose="02040503050406030204" pitchFamily="18" charset="0"/>
                <a:ea typeface="Cambria" panose="02040503050406030204" pitchFamily="18" charset="0"/>
              </a:rPr>
              <a:t>Problem Description: </a:t>
            </a:r>
          </a:p>
          <a:p>
            <a:pPr marL="342900" lvl="0" indent="-190500" algn="just">
              <a:lnSpc>
                <a:spcPct val="200000"/>
              </a:lnSpc>
              <a:spcBef>
                <a:spcPts val="0"/>
              </a:spcBef>
              <a:buNone/>
            </a:pPr>
            <a:r>
              <a:rPr lang="en-US" sz="1700" b="1" dirty="0">
                <a:latin typeface="Cambria" panose="02040503050406030204" pitchFamily="18" charset="0"/>
                <a:ea typeface="Cambria" panose="02040503050406030204" pitchFamily="18" charset="0"/>
              </a:rPr>
              <a:t>Current security systems rely heavily on static cameras and human monitoring, leading to critical gaps in surveillance. Fixed installations create blind spots, while human operators suffer from fatigue, resulting in delayed threat detection. Traditional systems also fail in low-light conditions and lack physical intervention capabilities. These limitations contribute to rising security breaches, with significant financial and safety repercussions. An autonomous, AI-powered robotic guard can address these gaps by providing dynamic patrols, real-time threat analysis, and 24/7 operational readiness.</a:t>
            </a:r>
            <a:endParaRPr lang="en-US"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700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Innovation or Novel Contributions</a:t>
            </a:r>
            <a:endParaRPr lang="en-US" sz="32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err="1">
                <a:latin typeface="Cambria" panose="02040503050406030204" pitchFamily="18" charset="0"/>
                <a:ea typeface="Cambria" panose="02040503050406030204" pitchFamily="18" charset="0"/>
              </a:rPr>
              <a:t>Git</a:t>
            </a:r>
            <a:r>
              <a:rPr lang="en-US" dirty="0">
                <a:latin typeface="Cambria" panose="02040503050406030204" pitchFamily="18" charset="0"/>
                <a:ea typeface="Cambria" panose="02040503050406030204" pitchFamily="18" charset="0"/>
              </a:rPr>
              <a: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IN" dirty="0">
                <a:latin typeface="Cambria" panose="02040503050406030204" pitchFamily="18" charset="0"/>
                <a:ea typeface="Cambria" panose="02040503050406030204" pitchFamily="18" charset="0"/>
              </a:rPr>
              <a:t>Objectives</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220466"/>
            <a:ext cx="10668000" cy="3924299"/>
          </a:xfrm>
          <a:prstGeom prst="rect">
            <a:avLst/>
          </a:prstGeom>
          <a:noFill/>
          <a:ln>
            <a:noFill/>
          </a:ln>
        </p:spPr>
        <p:txBody>
          <a:bodyPr spcFirstLastPara="1" wrap="square" lIns="91425" tIns="45700" rIns="91425" bIns="45700" anchor="t" anchorCtr="0">
            <a:normAutofit/>
          </a:bodyPr>
          <a:lstStyle/>
          <a:p>
            <a:pPr marL="495300" lvl="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Build a mobile </a:t>
            </a:r>
            <a:r>
              <a:rPr lang="en-US" dirty="0" err="1">
                <a:latin typeface="Cambria" panose="02040503050406030204" pitchFamily="18" charset="0"/>
                <a:ea typeface="Cambria" panose="02040503050406030204" pitchFamily="18" charset="0"/>
              </a:rPr>
              <a:t>robo</a:t>
            </a:r>
            <a:r>
              <a:rPr lang="en-US" dirty="0">
                <a:latin typeface="Cambria" panose="02040503050406030204" pitchFamily="18" charset="0"/>
                <a:ea typeface="Cambria" panose="02040503050406030204" pitchFamily="18" charset="0"/>
              </a:rPr>
              <a:t>-dog platform for patrol.</a:t>
            </a:r>
          </a:p>
          <a:p>
            <a:pPr marL="495300" lvl="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Integrate a night vision camera for 24/7 surveillance.</a:t>
            </a:r>
          </a:p>
          <a:p>
            <a:pPr marL="495300" lvl="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Implement face recognition to identify intruders.</a:t>
            </a:r>
          </a:p>
          <a:p>
            <a:pPr marL="495300" lvl="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Develop a "bark alarm" to actively deter threats.</a:t>
            </a:r>
          </a:p>
          <a:p>
            <a:pPr marL="495300" lvl="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Create a fully autonomous system that can patrol, detect, and deter.</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37979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61A063C9-5CAF-85AA-C376-F5F944307A1D}"/>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FFCD881B-BB19-E7E9-3DFC-472077087E7A}"/>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IN" dirty="0">
                <a:latin typeface="Cambria" panose="02040503050406030204" pitchFamily="18" charset="0"/>
                <a:ea typeface="Cambria" panose="02040503050406030204" pitchFamily="18" charset="0"/>
              </a:rPr>
              <a:t>Background and Related for title Selection</a:t>
            </a:r>
            <a:endParaRPr dirty="0">
              <a:latin typeface="Cambria" panose="02040503050406030204" pitchFamily="18" charset="0"/>
              <a:ea typeface="Cambria" panose="02040503050406030204" pitchFamily="18" charset="0"/>
            </a:endParaRPr>
          </a:p>
        </p:txBody>
      </p:sp>
      <p:sp>
        <p:nvSpPr>
          <p:cNvPr id="97" name="Google Shape;97;p14">
            <a:extLst>
              <a:ext uri="{FF2B5EF4-FFF2-40B4-BE49-F238E27FC236}">
                <a16:creationId xmlns:a16="http://schemas.microsoft.com/office/drawing/2014/main" id="{CF50CF68-04B8-D4E7-1D8B-7274F4DB813A}"/>
              </a:ext>
            </a:extLst>
          </p:cNvPr>
          <p:cNvSpPr txBox="1">
            <a:spLocks noGrp="1"/>
          </p:cNvSpPr>
          <p:nvPr>
            <p:ph type="body" idx="1"/>
          </p:nvPr>
        </p:nvSpPr>
        <p:spPr>
          <a:xfrm>
            <a:off x="655782" y="1220466"/>
            <a:ext cx="10668000" cy="4698553"/>
          </a:xfrm>
          <a:prstGeom prst="rect">
            <a:avLst/>
          </a:prstGeom>
          <a:noFill/>
          <a:ln>
            <a:noFill/>
          </a:ln>
        </p:spPr>
        <p:txBody>
          <a:bodyPr spcFirstLastPara="1" wrap="square" lIns="91425" tIns="45700" rIns="91425" bIns="45700" anchor="t" anchorCtr="0">
            <a:normAutofit fontScale="77500" lnSpcReduction="20000"/>
          </a:bodyPr>
          <a:lstStyle/>
          <a:p>
            <a:r>
              <a:rPr lang="en-US" sz="2600" b="1" dirty="0">
                <a:latin typeface="Cambria" panose="02040503050406030204" pitchFamily="18" charset="0"/>
                <a:ea typeface="Cambria" panose="02040503050406030204" pitchFamily="18" charset="0"/>
              </a:rPr>
              <a:t>Industry Context:</a:t>
            </a:r>
            <a:br>
              <a:rPr lang="en-US" dirty="0">
                <a:latin typeface="Cambria" panose="02040503050406030204" pitchFamily="18" charset="0"/>
                <a:ea typeface="Cambria" panose="02040503050406030204" pitchFamily="18" charset="0"/>
              </a:rPr>
            </a:br>
            <a:r>
              <a:rPr lang="en-US" sz="2600" dirty="0">
                <a:latin typeface="Cambria" panose="02040503050406030204" pitchFamily="18" charset="0"/>
                <a:ea typeface="Cambria" panose="02040503050406030204" pitchFamily="18" charset="0"/>
              </a:rPr>
              <a:t>Current security systems rely on static cameras and human monitoring, creating coverage gaps and false alarms, while commercial robots remain prohibitively expensive.</a:t>
            </a:r>
          </a:p>
          <a:p>
            <a:r>
              <a:rPr lang="en-US" sz="2600" b="1" dirty="0">
                <a:latin typeface="Cambria" panose="02040503050406030204" pitchFamily="18" charset="0"/>
                <a:ea typeface="Cambria" panose="02040503050406030204" pitchFamily="18" charset="0"/>
              </a:rPr>
              <a:t>Academic Foundations:</a:t>
            </a:r>
            <a:br>
              <a:rPr lang="en-US" dirty="0">
                <a:latin typeface="Cambria" panose="02040503050406030204" pitchFamily="18" charset="0"/>
                <a:ea typeface="Cambria" panose="02040503050406030204" pitchFamily="18" charset="0"/>
              </a:rPr>
            </a:br>
            <a:r>
              <a:rPr lang="en-US" sz="2600" dirty="0">
                <a:latin typeface="Cambria" panose="02040503050406030204" pitchFamily="18" charset="0"/>
                <a:ea typeface="Cambria" panose="02040503050406030204" pitchFamily="18" charset="0"/>
              </a:rPr>
              <a:t>Recent research demonstrates quadruped mobility (Lee 2021) and edge-AI face recognition (Zhang 2022) can address these limitations when combined effectively.</a:t>
            </a:r>
          </a:p>
          <a:p>
            <a:r>
              <a:rPr lang="en-US" sz="2600" b="1" dirty="0">
                <a:latin typeface="Cambria" panose="02040503050406030204" pitchFamily="18" charset="0"/>
                <a:ea typeface="Cambria" panose="02040503050406030204" pitchFamily="18" charset="0"/>
              </a:rPr>
              <a:t>Technology Basis:</a:t>
            </a:r>
            <a:br>
              <a:rPr lang="en-US" dirty="0">
                <a:latin typeface="Cambria" panose="02040503050406030204" pitchFamily="18" charset="0"/>
                <a:ea typeface="Cambria" panose="02040503050406030204" pitchFamily="18" charset="0"/>
              </a:rPr>
            </a:br>
            <a:r>
              <a:rPr lang="en-US" sz="2600" dirty="0">
                <a:latin typeface="Cambria" panose="02040503050406030204" pitchFamily="18" charset="0"/>
                <a:ea typeface="Cambria" panose="02040503050406030204" pitchFamily="18" charset="0"/>
              </a:rPr>
              <a:t>Our solution builds on </a:t>
            </a:r>
            <a:r>
              <a:rPr lang="en-US" sz="2600" dirty="0" err="1">
                <a:latin typeface="Cambria" panose="02040503050406030204" pitchFamily="18" charset="0"/>
                <a:ea typeface="Cambria" panose="02040503050406030204" pitchFamily="18" charset="0"/>
              </a:rPr>
              <a:t>SpotMicro's</a:t>
            </a:r>
            <a:r>
              <a:rPr lang="en-US" sz="2600" dirty="0">
                <a:latin typeface="Cambria" panose="02040503050406030204" pitchFamily="18" charset="0"/>
                <a:ea typeface="Cambria" panose="02040503050406030204" pitchFamily="18" charset="0"/>
              </a:rPr>
              <a:t> open-source platform and OpenCV's DNN module to create an accessible, mobile security system with local processing.</a:t>
            </a:r>
          </a:p>
          <a:p>
            <a:r>
              <a:rPr lang="en-US" sz="2600" b="1" dirty="0">
                <a:latin typeface="Cambria" panose="02040503050406030204" pitchFamily="18" charset="0"/>
                <a:ea typeface="Cambria" panose="02040503050406030204" pitchFamily="18" charset="0"/>
              </a:rPr>
              <a:t>Innovation:</a:t>
            </a:r>
            <a:br>
              <a:rPr lang="en-US" dirty="0">
                <a:latin typeface="Cambria" panose="02040503050406030204" pitchFamily="18" charset="0"/>
                <a:ea typeface="Cambria" panose="02040503050406030204" pitchFamily="18" charset="0"/>
              </a:rPr>
            </a:br>
            <a:r>
              <a:rPr lang="en-US" sz="2600" dirty="0">
                <a:latin typeface="Cambria" panose="02040503050406030204" pitchFamily="18" charset="0"/>
                <a:ea typeface="Cambria" panose="02040503050406030204" pitchFamily="18" charset="0"/>
              </a:rPr>
              <a:t>We uniquely integrate active deterrence (bark alarms + patrols) with privacy-focused edge-AI, bridging the gap between academic prototypes and commercial systems.</a:t>
            </a:r>
          </a:p>
          <a:p>
            <a:r>
              <a:rPr lang="en-US" sz="2600" b="1" dirty="0">
                <a:latin typeface="Cambria" panose="02040503050406030204" pitchFamily="18" charset="0"/>
                <a:ea typeface="Cambria" panose="02040503050406030204" pitchFamily="18" charset="0"/>
              </a:rPr>
              <a:t>Key Advantage:</a:t>
            </a:r>
            <a:br>
              <a:rPr lang="en-US" dirty="0">
                <a:latin typeface="Cambria" panose="02040503050406030204" pitchFamily="18" charset="0"/>
                <a:ea typeface="Cambria" panose="02040503050406030204" pitchFamily="18" charset="0"/>
              </a:rPr>
            </a:br>
            <a:r>
              <a:rPr lang="en-US" sz="2600" dirty="0">
                <a:latin typeface="Cambria" panose="02040503050406030204" pitchFamily="18" charset="0"/>
                <a:ea typeface="Cambria" panose="02040503050406030204" pitchFamily="18" charset="0"/>
              </a:rPr>
              <a:t>This approach delivers intelligent, mobile security at 1% of commercial robot costs while eliminating cloud privacy concerns.</a:t>
            </a:r>
          </a:p>
          <a:p>
            <a:pPr marL="152400" lvl="0" indent="0" algn="just" rtl="0">
              <a:lnSpc>
                <a:spcPct val="200000"/>
              </a:lnSpc>
              <a:spcBef>
                <a:spcPts val="0"/>
              </a:spcBef>
              <a:spcAft>
                <a:spcPts val="0"/>
              </a:spcAft>
              <a:buClr>
                <a:schemeClr val="dk1"/>
              </a:buClr>
              <a:buSzPts val="2400"/>
              <a:buNone/>
            </a:pPr>
            <a:endParaRPr sz="1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771766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p:cNvSpPr txBox="1">
            <a:spLocks noGrp="1"/>
          </p:cNvSpPr>
          <p:nvPr>
            <p:ph type="body" idx="1"/>
          </p:nvPr>
        </p:nvSpPr>
        <p:spPr>
          <a:xfrm>
            <a:off x="624349" y="997673"/>
            <a:ext cx="10668000" cy="3320845"/>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US" sz="3200" dirty="0">
                <a:latin typeface="Cambria" panose="02040503050406030204" pitchFamily="18" charset="0"/>
                <a:ea typeface="Cambria" panose="02040503050406030204" pitchFamily="18" charset="0"/>
              </a:rPr>
              <a:t>Technology Stack Components:</a:t>
            </a:r>
          </a:p>
          <a:p>
            <a:pPr marL="342900" lvl="0" indent="-190500" algn="just" rtl="0">
              <a:spcBef>
                <a:spcPts val="0"/>
              </a:spcBef>
              <a:spcAft>
                <a:spcPts val="0"/>
              </a:spcAft>
              <a:buClr>
                <a:schemeClr val="dk1"/>
              </a:buClr>
              <a:buSzPct val="100000"/>
              <a:buNone/>
            </a:pPr>
            <a:endParaRPr lang="en-US" sz="1050"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graphicFrame>
        <p:nvGraphicFramePr>
          <p:cNvPr id="4" name="Table 3">
            <a:extLst>
              <a:ext uri="{FF2B5EF4-FFF2-40B4-BE49-F238E27FC236}">
                <a16:creationId xmlns:a16="http://schemas.microsoft.com/office/drawing/2014/main" id="{036BC19C-58D1-A2E0-CD3B-E0A141278D6F}"/>
              </a:ext>
            </a:extLst>
          </p:cNvPr>
          <p:cNvGraphicFramePr>
            <a:graphicFrameLocks noGrp="1"/>
          </p:cNvGraphicFramePr>
          <p:nvPr>
            <p:extLst>
              <p:ext uri="{D42A27DB-BD31-4B8C-83A1-F6EECF244321}">
                <p14:modId xmlns:p14="http://schemas.microsoft.com/office/powerpoint/2010/main" val="3090086139"/>
              </p:ext>
            </p:extLst>
          </p:nvPr>
        </p:nvGraphicFramePr>
        <p:xfrm>
          <a:off x="899650" y="1673395"/>
          <a:ext cx="10581148" cy="3484880"/>
        </p:xfrm>
        <a:graphic>
          <a:graphicData uri="http://schemas.openxmlformats.org/drawingml/2006/table">
            <a:tbl>
              <a:tblPr firstRow="1" bandRow="1"/>
              <a:tblGrid>
                <a:gridCol w="2645287">
                  <a:extLst>
                    <a:ext uri="{9D8B030D-6E8A-4147-A177-3AD203B41FA5}">
                      <a16:colId xmlns:a16="http://schemas.microsoft.com/office/drawing/2014/main" val="913611879"/>
                    </a:ext>
                  </a:extLst>
                </a:gridCol>
                <a:gridCol w="2645287">
                  <a:extLst>
                    <a:ext uri="{9D8B030D-6E8A-4147-A177-3AD203B41FA5}">
                      <a16:colId xmlns:a16="http://schemas.microsoft.com/office/drawing/2014/main" val="1474215632"/>
                    </a:ext>
                  </a:extLst>
                </a:gridCol>
                <a:gridCol w="2645287">
                  <a:extLst>
                    <a:ext uri="{9D8B030D-6E8A-4147-A177-3AD203B41FA5}">
                      <a16:colId xmlns:a16="http://schemas.microsoft.com/office/drawing/2014/main" val="3067057827"/>
                    </a:ext>
                  </a:extLst>
                </a:gridCol>
                <a:gridCol w="2645287">
                  <a:extLst>
                    <a:ext uri="{9D8B030D-6E8A-4147-A177-3AD203B41FA5}">
                      <a16:colId xmlns:a16="http://schemas.microsoft.com/office/drawing/2014/main" val="2081879314"/>
                    </a:ext>
                  </a:extLst>
                </a:gridCol>
              </a:tblGrid>
              <a:tr h="370840">
                <a:tc>
                  <a:txBody>
                    <a:bodyPr/>
                    <a:lstStyle/>
                    <a:p>
                      <a:pPr algn="ctr">
                        <a:buNone/>
                      </a:pPr>
                      <a:r>
                        <a:rPr lang="en-IN" sz="2400" b="1" dirty="0">
                          <a:solidFill>
                            <a:schemeClr val="tx1"/>
                          </a:solidFill>
                          <a:effectLst/>
                          <a:latin typeface="Cambria" panose="02040503050406030204" pitchFamily="18" charset="0"/>
                          <a:ea typeface="Cambria" panose="02040503050406030204" pitchFamily="18" charset="0"/>
                        </a:rPr>
                        <a:t>Type</a:t>
                      </a:r>
                    </a:p>
                  </a:txBody>
                  <a:tcPr marR="76200" marT="76200" marB="76200" anchor="ctr"/>
                </a:tc>
                <a:tc>
                  <a:txBody>
                    <a:bodyPr/>
                    <a:lstStyle/>
                    <a:p>
                      <a:pPr algn="ctr">
                        <a:buNone/>
                      </a:pPr>
                      <a:r>
                        <a:rPr lang="en-IN" sz="2400" b="1" dirty="0">
                          <a:solidFill>
                            <a:schemeClr val="tx1"/>
                          </a:solidFill>
                          <a:effectLst/>
                          <a:latin typeface="Cambria" panose="02040503050406030204" pitchFamily="18" charset="0"/>
                          <a:ea typeface="Cambria" panose="02040503050406030204" pitchFamily="18" charset="0"/>
                        </a:rPr>
                        <a:t>Component</a:t>
                      </a:r>
                    </a:p>
                  </a:txBody>
                  <a:tcPr marL="76200" marR="76200" marT="76200" marB="76200" anchor="ctr"/>
                </a:tc>
                <a:tc>
                  <a:txBody>
                    <a:bodyPr/>
                    <a:lstStyle/>
                    <a:p>
                      <a:pPr algn="ctr">
                        <a:buNone/>
                      </a:pPr>
                      <a:r>
                        <a:rPr lang="en-IN" sz="2400" b="1">
                          <a:solidFill>
                            <a:schemeClr val="tx1"/>
                          </a:solidFill>
                          <a:effectLst/>
                          <a:latin typeface="Cambria" panose="02040503050406030204" pitchFamily="18" charset="0"/>
                          <a:ea typeface="Cambria" panose="02040503050406030204" pitchFamily="18" charset="0"/>
                        </a:rPr>
                        <a:t>Key Specs</a:t>
                      </a:r>
                    </a:p>
                  </a:txBody>
                  <a:tcPr marL="76200" marR="76200" marT="76200" marB="76200" anchor="ctr"/>
                </a:tc>
                <a:tc>
                  <a:txBody>
                    <a:bodyPr/>
                    <a:lstStyle/>
                    <a:p>
                      <a:pPr algn="ctr">
                        <a:buNone/>
                      </a:pPr>
                      <a:r>
                        <a:rPr lang="en-IN" sz="2400" b="1" dirty="0">
                          <a:solidFill>
                            <a:schemeClr val="tx1"/>
                          </a:solidFill>
                          <a:effectLst/>
                          <a:latin typeface="Cambria" panose="02040503050406030204" pitchFamily="18" charset="0"/>
                          <a:ea typeface="Cambria" panose="02040503050406030204" pitchFamily="18" charset="0"/>
                        </a:rPr>
                        <a:t>Purpose</a:t>
                      </a:r>
                    </a:p>
                  </a:txBody>
                  <a:tcPr marL="76200" marR="76200" marT="76200" marB="76200" anchor="ctr"/>
                </a:tc>
                <a:extLst>
                  <a:ext uri="{0D108BD9-81ED-4DB2-BD59-A6C34878D82A}">
                    <a16:rowId xmlns:a16="http://schemas.microsoft.com/office/drawing/2014/main" val="1719910852"/>
                  </a:ext>
                </a:extLst>
              </a:tr>
              <a:tr h="370840">
                <a:tc rowSpan="3">
                  <a:txBody>
                    <a:bodyPr/>
                    <a:lstStyle/>
                    <a:p>
                      <a:pPr algn="ctr"/>
                      <a:r>
                        <a:rPr lang="en-IN" sz="2000" dirty="0">
                          <a:latin typeface="Cambria" panose="02040503050406030204" pitchFamily="18" charset="0"/>
                          <a:ea typeface="Cambria" panose="02040503050406030204" pitchFamily="18" charset="0"/>
                        </a:rPr>
                        <a:t>Hardware</a:t>
                      </a:r>
                    </a:p>
                  </a:txBody>
                  <a:tcPr anchor="ctr"/>
                </a:tc>
                <a:tc>
                  <a:txBody>
                    <a:bodyPr/>
                    <a:lstStyle/>
                    <a:p>
                      <a:pPr algn="ctr">
                        <a:buNone/>
                      </a:pPr>
                      <a:r>
                        <a:rPr lang="en-IN" dirty="0">
                          <a:effectLst/>
                        </a:rPr>
                        <a:t>Raspberry Pi 4B</a:t>
                      </a:r>
                    </a:p>
                  </a:txBody>
                  <a:tcPr marL="76200" marR="76200" marT="76200" marB="76200" anchor="ctr"/>
                </a:tc>
                <a:tc>
                  <a:txBody>
                    <a:bodyPr/>
                    <a:lstStyle/>
                    <a:p>
                      <a:pPr algn="ctr">
                        <a:buNone/>
                      </a:pPr>
                      <a:r>
                        <a:rPr lang="en-IN" dirty="0">
                          <a:effectLst/>
                        </a:rPr>
                        <a:t>4GB RAM, 1.5GHz Quad-Core</a:t>
                      </a:r>
                    </a:p>
                  </a:txBody>
                  <a:tcPr marL="76200" marR="76200" marT="76200" marB="76200" anchor="ctr"/>
                </a:tc>
                <a:tc>
                  <a:txBody>
                    <a:bodyPr/>
                    <a:lstStyle/>
                    <a:p>
                      <a:pPr algn="ctr">
                        <a:buNone/>
                      </a:pPr>
                      <a:r>
                        <a:rPr lang="en-IN" dirty="0">
                          <a:effectLst/>
                        </a:rPr>
                        <a:t>AI Processing &amp; Control</a:t>
                      </a:r>
                    </a:p>
                  </a:txBody>
                  <a:tcPr marL="76200" marR="76200" marT="76200" marB="76200" anchor="ctr"/>
                </a:tc>
                <a:extLst>
                  <a:ext uri="{0D108BD9-81ED-4DB2-BD59-A6C34878D82A}">
                    <a16:rowId xmlns:a16="http://schemas.microsoft.com/office/drawing/2014/main" val="635692322"/>
                  </a:ext>
                </a:extLst>
              </a:tr>
              <a:tr h="370840">
                <a:tc vMerge="1">
                  <a:txBody>
                    <a:bodyPr/>
                    <a:lstStyle/>
                    <a:p>
                      <a:endParaRPr lang="en-IN" dirty="0"/>
                    </a:p>
                  </a:txBody>
                  <a:tcPr/>
                </a:tc>
                <a:tc>
                  <a:txBody>
                    <a:bodyPr/>
                    <a:lstStyle/>
                    <a:p>
                      <a:pPr algn="ctr">
                        <a:buNone/>
                      </a:pPr>
                      <a:r>
                        <a:rPr lang="en-IN" dirty="0">
                          <a:effectLst/>
                        </a:rPr>
                        <a:t> </a:t>
                      </a:r>
                      <a:r>
                        <a:rPr lang="en-IN" dirty="0" err="1">
                          <a:effectLst/>
                        </a:rPr>
                        <a:t>NoIR</a:t>
                      </a:r>
                      <a:r>
                        <a:rPr lang="en-IN" dirty="0">
                          <a:effectLst/>
                        </a:rPr>
                        <a:t> Camera</a:t>
                      </a:r>
                    </a:p>
                  </a:txBody>
                  <a:tcPr marL="76200" marR="76200" marT="76200" marB="76200" anchor="ctr"/>
                </a:tc>
                <a:tc>
                  <a:txBody>
                    <a:bodyPr/>
                    <a:lstStyle/>
                    <a:p>
                      <a:pPr algn="ctr">
                        <a:buNone/>
                      </a:pPr>
                      <a:r>
                        <a:rPr lang="en-IN">
                          <a:effectLst/>
                        </a:rPr>
                        <a:t>8MP, IR-sensitive</a:t>
                      </a:r>
                    </a:p>
                  </a:txBody>
                  <a:tcPr marL="76200" marR="76200" marT="76200" marB="76200" anchor="ctr"/>
                </a:tc>
                <a:tc>
                  <a:txBody>
                    <a:bodyPr/>
                    <a:lstStyle/>
                    <a:p>
                      <a:pPr algn="ctr">
                        <a:buNone/>
                      </a:pPr>
                      <a:r>
                        <a:rPr lang="en-IN" dirty="0">
                          <a:effectLst/>
                        </a:rPr>
                        <a:t>24/7 Face Detection</a:t>
                      </a:r>
                    </a:p>
                  </a:txBody>
                  <a:tcPr marL="76200" marR="76200" marT="76200" marB="76200" anchor="ctr"/>
                </a:tc>
                <a:extLst>
                  <a:ext uri="{0D108BD9-81ED-4DB2-BD59-A6C34878D82A}">
                    <a16:rowId xmlns:a16="http://schemas.microsoft.com/office/drawing/2014/main" val="2204566488"/>
                  </a:ext>
                </a:extLst>
              </a:tr>
              <a:tr h="370840">
                <a:tc vMerge="1">
                  <a:txBody>
                    <a:bodyPr/>
                    <a:lstStyle/>
                    <a:p>
                      <a:endParaRPr lang="en-IN" dirty="0"/>
                    </a:p>
                  </a:txBody>
                  <a:tcPr/>
                </a:tc>
                <a:tc>
                  <a:txBody>
                    <a:bodyPr/>
                    <a:lstStyle/>
                    <a:p>
                      <a:pPr algn="ctr">
                        <a:buNone/>
                      </a:pPr>
                      <a:r>
                        <a:rPr lang="en-IN" dirty="0">
                          <a:effectLst/>
                        </a:rPr>
                        <a:t>MG996R Servos (x12)</a:t>
                      </a:r>
                    </a:p>
                  </a:txBody>
                  <a:tcPr marL="76200" marR="76200" marT="76200" marB="76200" anchor="ctr"/>
                </a:tc>
                <a:tc>
                  <a:txBody>
                    <a:bodyPr/>
                    <a:lstStyle/>
                    <a:p>
                      <a:pPr algn="ctr">
                        <a:buNone/>
                      </a:pPr>
                      <a:r>
                        <a:rPr lang="en-IN">
                          <a:effectLst/>
                        </a:rPr>
                        <a:t>10kg·cm Torque</a:t>
                      </a:r>
                    </a:p>
                  </a:txBody>
                  <a:tcPr marL="76200" marR="76200" marT="76200" marB="76200" anchor="ctr"/>
                </a:tc>
                <a:tc>
                  <a:txBody>
                    <a:bodyPr/>
                    <a:lstStyle/>
                    <a:p>
                      <a:pPr algn="ctr">
                        <a:buNone/>
                      </a:pPr>
                      <a:r>
                        <a:rPr lang="en-IN" dirty="0">
                          <a:effectLst/>
                        </a:rPr>
                        <a:t>Leg Movement (</a:t>
                      </a:r>
                      <a:r>
                        <a:rPr lang="en-IN" dirty="0" err="1">
                          <a:effectLst/>
                        </a:rPr>
                        <a:t>SpotMicro</a:t>
                      </a:r>
                      <a:r>
                        <a:rPr lang="en-IN" dirty="0">
                          <a:effectLst/>
                        </a:rPr>
                        <a:t>)</a:t>
                      </a:r>
                    </a:p>
                  </a:txBody>
                  <a:tcPr marL="76200" marR="76200" marT="76200" marB="76200" anchor="ctr"/>
                </a:tc>
                <a:extLst>
                  <a:ext uri="{0D108BD9-81ED-4DB2-BD59-A6C34878D82A}">
                    <a16:rowId xmlns:a16="http://schemas.microsoft.com/office/drawing/2014/main" val="3058605599"/>
                  </a:ext>
                </a:extLst>
              </a:tr>
              <a:tr h="370840">
                <a:tc rowSpan="3">
                  <a:txBody>
                    <a:bodyPr/>
                    <a:lstStyle/>
                    <a:p>
                      <a:pPr algn="ctr"/>
                      <a:r>
                        <a:rPr lang="en-IN" sz="2000" dirty="0">
                          <a:latin typeface="Cambria" panose="02040503050406030204" pitchFamily="18" charset="0"/>
                          <a:ea typeface="Cambria" panose="02040503050406030204" pitchFamily="18" charset="0"/>
                        </a:rPr>
                        <a:t>Software</a:t>
                      </a:r>
                    </a:p>
                  </a:txBody>
                  <a:tcPr anchor="ctr"/>
                </a:tc>
                <a:tc>
                  <a:txBody>
                    <a:bodyPr/>
                    <a:lstStyle/>
                    <a:p>
                      <a:pPr algn="ctr">
                        <a:buNone/>
                      </a:pPr>
                      <a:r>
                        <a:rPr lang="en-IN" dirty="0">
                          <a:effectLst/>
                        </a:rPr>
                        <a:t>OpenCV 4.5 + DNN</a:t>
                      </a:r>
                    </a:p>
                  </a:txBody>
                  <a:tcPr marL="76200" marR="76200" marT="76200" marB="76200" anchor="ctr"/>
                </a:tc>
                <a:tc>
                  <a:txBody>
                    <a:bodyPr/>
                    <a:lstStyle/>
                    <a:p>
                      <a:pPr algn="ctr">
                        <a:buNone/>
                      </a:pPr>
                      <a:r>
                        <a:rPr lang="en-IN">
                          <a:effectLst/>
                        </a:rPr>
                        <a:t>Haar Cascade/LBPH</a:t>
                      </a:r>
                    </a:p>
                  </a:txBody>
                  <a:tcPr marL="76200" marR="76200" marT="76200" marB="76200" anchor="ctr"/>
                </a:tc>
                <a:tc>
                  <a:txBody>
                    <a:bodyPr/>
                    <a:lstStyle/>
                    <a:p>
                      <a:pPr algn="ctr">
                        <a:buNone/>
                      </a:pPr>
                      <a:r>
                        <a:rPr lang="en-IN" dirty="0">
                          <a:effectLst/>
                        </a:rPr>
                        <a:t>Real-Time Face Recognition</a:t>
                      </a:r>
                    </a:p>
                  </a:txBody>
                  <a:tcPr marL="76200" marR="76200" marT="76200" marB="76200" anchor="ctr"/>
                </a:tc>
                <a:extLst>
                  <a:ext uri="{0D108BD9-81ED-4DB2-BD59-A6C34878D82A}">
                    <a16:rowId xmlns:a16="http://schemas.microsoft.com/office/drawing/2014/main" val="849512022"/>
                  </a:ext>
                </a:extLst>
              </a:tr>
              <a:tr h="370840">
                <a:tc vMerge="1">
                  <a:txBody>
                    <a:bodyPr/>
                    <a:lstStyle/>
                    <a:p>
                      <a:endParaRPr lang="en-IN" dirty="0"/>
                    </a:p>
                  </a:txBody>
                  <a:tcPr/>
                </a:tc>
                <a:tc>
                  <a:txBody>
                    <a:bodyPr/>
                    <a:lstStyle/>
                    <a:p>
                      <a:pPr algn="ctr">
                        <a:buNone/>
                      </a:pPr>
                      <a:r>
                        <a:rPr lang="en-IN" dirty="0">
                          <a:effectLst/>
                        </a:rPr>
                        <a:t>Python-Robotics</a:t>
                      </a:r>
                    </a:p>
                  </a:txBody>
                  <a:tcPr marL="76200" marR="76200" marT="76200" marB="76200" anchor="ctr"/>
                </a:tc>
                <a:tc>
                  <a:txBody>
                    <a:bodyPr/>
                    <a:lstStyle/>
                    <a:p>
                      <a:pPr algn="ctr">
                        <a:buNone/>
                      </a:pPr>
                      <a:r>
                        <a:rPr lang="en-IN">
                          <a:effectLst/>
                        </a:rPr>
                        <a:t>Inverse Kinematics</a:t>
                      </a:r>
                    </a:p>
                  </a:txBody>
                  <a:tcPr marL="76200" marR="76200" marT="76200" marB="76200" anchor="ctr"/>
                </a:tc>
                <a:tc>
                  <a:txBody>
                    <a:bodyPr/>
                    <a:lstStyle/>
                    <a:p>
                      <a:pPr algn="ctr">
                        <a:buNone/>
                      </a:pPr>
                      <a:r>
                        <a:rPr lang="en-IN" dirty="0">
                          <a:effectLst/>
                        </a:rPr>
                        <a:t>Gait Control</a:t>
                      </a:r>
                    </a:p>
                  </a:txBody>
                  <a:tcPr marL="76200" marR="76200" marT="76200" marB="76200" anchor="ctr"/>
                </a:tc>
                <a:extLst>
                  <a:ext uri="{0D108BD9-81ED-4DB2-BD59-A6C34878D82A}">
                    <a16:rowId xmlns:a16="http://schemas.microsoft.com/office/drawing/2014/main" val="1447037004"/>
                  </a:ext>
                </a:extLst>
              </a:tr>
              <a:tr h="370840">
                <a:tc vMerge="1">
                  <a:txBody>
                    <a:bodyPr/>
                    <a:lstStyle/>
                    <a:p>
                      <a:endParaRPr lang="en-IN" dirty="0"/>
                    </a:p>
                  </a:txBody>
                  <a:tcPr/>
                </a:tc>
                <a:tc>
                  <a:txBody>
                    <a:bodyPr/>
                    <a:lstStyle/>
                    <a:p>
                      <a:pPr algn="ctr">
                        <a:buNone/>
                      </a:pPr>
                      <a:r>
                        <a:rPr lang="en-IN" dirty="0" err="1">
                          <a:effectLst/>
                        </a:rPr>
                        <a:t>PySerial</a:t>
                      </a:r>
                      <a:endParaRPr lang="en-IN" dirty="0">
                        <a:effectLst/>
                      </a:endParaRPr>
                    </a:p>
                  </a:txBody>
                  <a:tcPr marL="76200" marR="76200" marT="76200" marB="76200" anchor="ctr"/>
                </a:tc>
                <a:tc>
                  <a:txBody>
                    <a:bodyPr/>
                    <a:lstStyle/>
                    <a:p>
                      <a:pPr algn="ctr">
                        <a:buNone/>
                      </a:pPr>
                      <a:r>
                        <a:rPr lang="en-IN">
                          <a:effectLst/>
                        </a:rPr>
                        <a:t>UART Communication</a:t>
                      </a:r>
                    </a:p>
                  </a:txBody>
                  <a:tcPr marL="76200" marR="76200" marT="76200" marB="76200" anchor="ctr"/>
                </a:tc>
                <a:tc>
                  <a:txBody>
                    <a:bodyPr/>
                    <a:lstStyle/>
                    <a:p>
                      <a:pPr algn="ctr">
                        <a:buNone/>
                      </a:pPr>
                      <a:r>
                        <a:rPr lang="en-IN" dirty="0" err="1">
                          <a:effectLst/>
                        </a:rPr>
                        <a:t>DFPlayer</a:t>
                      </a:r>
                      <a:r>
                        <a:rPr lang="en-IN" dirty="0">
                          <a:effectLst/>
                        </a:rPr>
                        <a:t> Alarm Triggers</a:t>
                      </a:r>
                    </a:p>
                  </a:txBody>
                  <a:tcPr marL="76200" marR="76200" marT="76200" marB="76200" anchor="ctr"/>
                </a:tc>
                <a:extLst>
                  <a:ext uri="{0D108BD9-81ED-4DB2-BD59-A6C34878D82A}">
                    <a16:rowId xmlns:a16="http://schemas.microsoft.com/office/drawing/2014/main" val="1962970786"/>
                  </a:ext>
                </a:extLst>
              </a:tr>
              <a:tr h="370840">
                <a:tc rowSpan="2">
                  <a:txBody>
                    <a:bodyPr/>
                    <a:lstStyle/>
                    <a:p>
                      <a:pPr algn="ctr"/>
                      <a:r>
                        <a:rPr lang="en-IN" sz="2000" dirty="0">
                          <a:latin typeface="Cambria" panose="02040503050406030204" pitchFamily="18" charset="0"/>
                          <a:ea typeface="Cambria" panose="02040503050406030204" pitchFamily="18" charset="0"/>
                        </a:rPr>
                        <a:t>Upgrades</a:t>
                      </a:r>
                    </a:p>
                  </a:txBody>
                  <a:tcPr anchor="ctr"/>
                </a:tc>
                <a:tc>
                  <a:txBody>
                    <a:bodyPr/>
                    <a:lstStyle/>
                    <a:p>
                      <a:pPr algn="ctr">
                        <a:buNone/>
                      </a:pPr>
                      <a:r>
                        <a:rPr lang="en-IN" dirty="0">
                          <a:effectLst/>
                        </a:rPr>
                        <a:t>FLIR Lepton</a:t>
                      </a:r>
                    </a:p>
                  </a:txBody>
                  <a:tcPr marL="76200" marR="76200" marT="76200" marB="76200" anchor="ctr"/>
                </a:tc>
                <a:tc>
                  <a:txBody>
                    <a:bodyPr/>
                    <a:lstStyle/>
                    <a:p>
                      <a:pPr algn="ctr">
                        <a:buNone/>
                      </a:pPr>
                      <a:r>
                        <a:rPr lang="en-IN">
                          <a:effectLst/>
                        </a:rPr>
                        <a:t>80x60 Thermal Imaging</a:t>
                      </a:r>
                    </a:p>
                  </a:txBody>
                  <a:tcPr marL="76200" marR="76200" marT="76200" marB="76200" anchor="ctr"/>
                </a:tc>
                <a:tc>
                  <a:txBody>
                    <a:bodyPr/>
                    <a:lstStyle/>
                    <a:p>
                      <a:pPr algn="ctr">
                        <a:buNone/>
                      </a:pPr>
                      <a:r>
                        <a:rPr lang="en-IN" dirty="0">
                          <a:effectLst/>
                        </a:rPr>
                        <a:t>Heat Signature Detection</a:t>
                      </a:r>
                    </a:p>
                  </a:txBody>
                  <a:tcPr marL="76200" marR="76200" marT="76200" marB="76200" anchor="ctr"/>
                </a:tc>
                <a:extLst>
                  <a:ext uri="{0D108BD9-81ED-4DB2-BD59-A6C34878D82A}">
                    <a16:rowId xmlns:a16="http://schemas.microsoft.com/office/drawing/2014/main" val="2981597024"/>
                  </a:ext>
                </a:extLst>
              </a:tr>
              <a:tr h="370840">
                <a:tc vMerge="1">
                  <a:txBody>
                    <a:bodyPr/>
                    <a:lstStyle/>
                    <a:p>
                      <a:endParaRPr lang="en-IN" dirty="0"/>
                    </a:p>
                  </a:txBody>
                  <a:tcPr/>
                </a:tc>
                <a:tc>
                  <a:txBody>
                    <a:bodyPr/>
                    <a:lstStyle/>
                    <a:p>
                      <a:pPr algn="ctr">
                        <a:buNone/>
                      </a:pPr>
                      <a:r>
                        <a:rPr lang="en-IN" dirty="0">
                          <a:effectLst/>
                        </a:rPr>
                        <a:t>LIDAR Lite v4</a:t>
                      </a:r>
                    </a:p>
                  </a:txBody>
                  <a:tcPr marL="76200" marR="76200" marT="76200" marB="76200" anchor="ctr"/>
                </a:tc>
                <a:tc>
                  <a:txBody>
                    <a:bodyPr/>
                    <a:lstStyle/>
                    <a:p>
                      <a:pPr algn="ctr">
                        <a:buNone/>
                      </a:pPr>
                      <a:r>
                        <a:rPr lang="en-IN">
                          <a:effectLst/>
                        </a:rPr>
                        <a:t>40m Range</a:t>
                      </a:r>
                    </a:p>
                  </a:txBody>
                  <a:tcPr marL="76200" marR="76200" marT="76200" marB="76200" anchor="ctr"/>
                </a:tc>
                <a:tc>
                  <a:txBody>
                    <a:bodyPr/>
                    <a:lstStyle/>
                    <a:p>
                      <a:pPr algn="ctr">
                        <a:buNone/>
                      </a:pPr>
                      <a:r>
                        <a:rPr lang="en-IN" dirty="0">
                          <a:effectLst/>
                        </a:rPr>
                        <a:t>Obstacle Avoidance</a:t>
                      </a:r>
                    </a:p>
                  </a:txBody>
                  <a:tcPr marL="76200" marR="76200" marT="76200" marB="76200" anchor="ctr"/>
                </a:tc>
                <a:extLst>
                  <a:ext uri="{0D108BD9-81ED-4DB2-BD59-A6C34878D82A}">
                    <a16:rowId xmlns:a16="http://schemas.microsoft.com/office/drawing/2014/main" val="1822891061"/>
                  </a:ext>
                </a:extLst>
              </a:tr>
            </a:tbl>
          </a:graphicData>
        </a:graphic>
      </p:graphicFrame>
    </p:spTree>
    <p:extLst>
      <p:ext uri="{BB962C8B-B14F-4D97-AF65-F5344CB8AC3E}">
        <p14:creationId xmlns:p14="http://schemas.microsoft.com/office/powerpoint/2010/main" val="1030816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lnSpc>
                <a:spcPct val="200000"/>
              </a:lnSpc>
              <a:spcBef>
                <a:spcPts val="0"/>
              </a:spcBef>
              <a:spcAft>
                <a:spcPts val="0"/>
              </a:spcAft>
              <a:buClr>
                <a:schemeClr val="dk1"/>
              </a:buClr>
              <a:buSzPct val="100000"/>
              <a:buNone/>
            </a:pPr>
            <a:r>
              <a:rPr lang="en-US" dirty="0">
                <a:latin typeface="Cambria" panose="02040503050406030204" pitchFamily="18" charset="0"/>
                <a:ea typeface="Cambria" panose="02040503050406030204" pitchFamily="18" charset="0"/>
              </a:rPr>
              <a:t>Software and Hardware Requirements: </a:t>
            </a: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graphicFrame>
        <p:nvGraphicFramePr>
          <p:cNvPr id="2" name="Table 1">
            <a:extLst>
              <a:ext uri="{FF2B5EF4-FFF2-40B4-BE49-F238E27FC236}">
                <a16:creationId xmlns:a16="http://schemas.microsoft.com/office/drawing/2014/main" id="{0B42FFFA-CC8A-2BB1-8B05-6C40EAC1706B}"/>
              </a:ext>
            </a:extLst>
          </p:cNvPr>
          <p:cNvGraphicFramePr>
            <a:graphicFrameLocks noGrp="1"/>
          </p:cNvGraphicFramePr>
          <p:nvPr>
            <p:extLst>
              <p:ext uri="{D42A27DB-BD31-4B8C-83A1-F6EECF244321}">
                <p14:modId xmlns:p14="http://schemas.microsoft.com/office/powerpoint/2010/main" val="3019334475"/>
              </p:ext>
            </p:extLst>
          </p:nvPr>
        </p:nvGraphicFramePr>
        <p:xfrm>
          <a:off x="1481394" y="1990950"/>
          <a:ext cx="8128000" cy="3053080"/>
        </p:xfrm>
        <a:graphic>
          <a:graphicData uri="http://schemas.openxmlformats.org/drawingml/2006/table">
            <a:tbl>
              <a:tblPr firstRow="1" bandRow="1"/>
              <a:tblGrid>
                <a:gridCol w="4064000">
                  <a:extLst>
                    <a:ext uri="{9D8B030D-6E8A-4147-A177-3AD203B41FA5}">
                      <a16:colId xmlns:a16="http://schemas.microsoft.com/office/drawing/2014/main" val="2699269516"/>
                    </a:ext>
                  </a:extLst>
                </a:gridCol>
                <a:gridCol w="4064000">
                  <a:extLst>
                    <a:ext uri="{9D8B030D-6E8A-4147-A177-3AD203B41FA5}">
                      <a16:colId xmlns:a16="http://schemas.microsoft.com/office/drawing/2014/main" val="3285171553"/>
                    </a:ext>
                  </a:extLst>
                </a:gridCol>
              </a:tblGrid>
              <a:tr h="370840">
                <a:tc>
                  <a:txBody>
                    <a:bodyPr/>
                    <a:lstStyle/>
                    <a:p>
                      <a:pPr algn="ctr"/>
                      <a:r>
                        <a:rPr lang="en-IN" sz="2400" dirty="0">
                          <a:latin typeface="Cambria" panose="02040503050406030204" pitchFamily="18" charset="0"/>
                          <a:ea typeface="Cambria" panose="02040503050406030204" pitchFamily="18" charset="0"/>
                        </a:rPr>
                        <a:t>Hardware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400" dirty="0">
                          <a:latin typeface="Cambria" panose="02040503050406030204" pitchFamily="18" charset="0"/>
                          <a:ea typeface="Cambria" panose="02040503050406030204" pitchFamily="18" charset="0"/>
                        </a:rPr>
                        <a:t>Software and libraries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5330544"/>
                  </a:ext>
                </a:extLst>
              </a:tr>
              <a:tr h="370840">
                <a:tc>
                  <a:txBody>
                    <a:bodyPr/>
                    <a:lstStyle/>
                    <a:p>
                      <a:pPr marL="285750" indent="-285750">
                        <a:buFont typeface="Wingdings" panose="05000000000000000000" pitchFamily="2" charset="2"/>
                        <a:buChar char="v"/>
                      </a:pPr>
                      <a:r>
                        <a:rPr lang="en-IN" sz="1800" dirty="0">
                          <a:solidFill>
                            <a:schemeClr val="tx1"/>
                          </a:solidFill>
                          <a:latin typeface="Cambria" panose="02040503050406030204" pitchFamily="18" charset="0"/>
                          <a:ea typeface="Cambria" panose="02040503050406030204" pitchFamily="18" charset="0"/>
                        </a:rPr>
                        <a:t>Raspberry Pi 4 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a:buFont typeface="Wingdings" panose="05000000000000000000" pitchFamily="2" charset="2"/>
                        <a:buChar char="v"/>
                      </a:pPr>
                      <a:r>
                        <a:rPr lang="en-IN" sz="1800" dirty="0">
                          <a:latin typeface="Cambria" panose="02040503050406030204" pitchFamily="18" charset="0"/>
                          <a:ea typeface="Cambria" panose="02040503050406030204" pitchFamily="18" charset="0"/>
                        </a:rPr>
                        <a:t>Raspberry Pi OS (64-bit)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15293277"/>
                  </a:ext>
                </a:extLst>
              </a:tr>
              <a:tr h="370840">
                <a:tc>
                  <a:txBody>
                    <a:bodyPr/>
                    <a:lstStyle/>
                    <a:p>
                      <a:pPr marL="285750" indent="-285750">
                        <a:buFont typeface="Wingdings" panose="05000000000000000000" pitchFamily="2" charset="2"/>
                        <a:buChar char="v"/>
                      </a:pPr>
                      <a:r>
                        <a:rPr lang="en-IN" sz="1800" dirty="0">
                          <a:latin typeface="Cambria" panose="02040503050406030204" pitchFamily="18" charset="0"/>
                          <a:ea typeface="Cambria" panose="02040503050406030204" pitchFamily="18" charset="0"/>
                        </a:rPr>
                        <a:t>Quadruped Robot Chassis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a:buFont typeface="Wingdings" panose="05000000000000000000" pitchFamily="2" charset="2"/>
                        <a:buChar char="v"/>
                      </a:pPr>
                      <a:r>
                        <a:rPr lang="en-IN" sz="1800" dirty="0">
                          <a:latin typeface="Cambria" panose="02040503050406030204" pitchFamily="18" charset="0"/>
                          <a:ea typeface="Cambria" panose="02040503050406030204" pitchFamily="18" charset="0"/>
                        </a:rPr>
                        <a:t>Python 3.9+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9480023"/>
                  </a:ext>
                </a:extLst>
              </a:tr>
              <a:tr h="370840">
                <a:tc>
                  <a:txBody>
                    <a:bodyPr/>
                    <a:lstStyle/>
                    <a:p>
                      <a:pPr marL="285750" marR="0" lvl="0" indent="-2857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v"/>
                        <a:tabLst/>
                        <a:defRPr/>
                      </a:pPr>
                      <a:r>
                        <a:rPr lang="en-IN" sz="1800" dirty="0">
                          <a:latin typeface="Cambria" panose="02040503050406030204" pitchFamily="18" charset="0"/>
                          <a:ea typeface="Cambria" panose="02040503050406030204" pitchFamily="18" charset="0"/>
                        </a:rPr>
                        <a:t>Quadruped Robot Chassis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a:buFont typeface="Wingdings" panose="05000000000000000000" pitchFamily="2" charset="2"/>
                        <a:buChar char="v"/>
                      </a:pPr>
                      <a:r>
                        <a:rPr lang="en-IN" sz="1800" dirty="0">
                          <a:latin typeface="Cambria" panose="02040503050406030204" pitchFamily="18" charset="0"/>
                          <a:ea typeface="Cambria" panose="02040503050406030204" pitchFamily="18" charset="0"/>
                        </a:rPr>
                        <a:t>Git and GitHub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16264509"/>
                  </a:ext>
                </a:extLst>
              </a:tr>
              <a:tr h="370840">
                <a:tc>
                  <a:txBody>
                    <a:bodyPr/>
                    <a:lstStyle/>
                    <a:p>
                      <a:pPr marL="285750" indent="-285750">
                        <a:buFont typeface="Wingdings" panose="05000000000000000000" pitchFamily="2" charset="2"/>
                        <a:buChar char="v"/>
                      </a:pPr>
                      <a:r>
                        <a:rPr lang="en-IN" sz="1800" dirty="0">
                          <a:latin typeface="Cambria" panose="02040503050406030204" pitchFamily="18" charset="0"/>
                          <a:ea typeface="Cambria" panose="02040503050406030204" pitchFamily="18" charset="0"/>
                        </a:rPr>
                        <a:t>PCA9685 Servo Driver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a:buFont typeface="Wingdings" panose="05000000000000000000" pitchFamily="2" charset="2"/>
                        <a:buChar char="v"/>
                      </a:pPr>
                      <a:r>
                        <a:rPr lang="en-IN" sz="1800" dirty="0">
                          <a:latin typeface="Cambria" panose="02040503050406030204" pitchFamily="18" charset="0"/>
                          <a:ea typeface="Cambria" panose="02040503050406030204" pitchFamily="18" charset="0"/>
                        </a:rPr>
                        <a:t>OpenCV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71519880"/>
                  </a:ext>
                </a:extLst>
              </a:tr>
              <a:tr h="370840">
                <a:tc>
                  <a:txBody>
                    <a:bodyPr/>
                    <a:lstStyle/>
                    <a:p>
                      <a:pPr marL="285750" indent="-285750">
                        <a:buFont typeface="Wingdings" panose="05000000000000000000" pitchFamily="2" charset="2"/>
                        <a:buChar char="v"/>
                      </a:pPr>
                      <a:r>
                        <a:rPr lang="en-IN" sz="1800" dirty="0">
                          <a:latin typeface="Cambria" panose="02040503050406030204" pitchFamily="18" charset="0"/>
                          <a:ea typeface="Cambria" panose="02040503050406030204" pitchFamily="18" charset="0"/>
                        </a:rPr>
                        <a:t>IR-Cut Camera Module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a:buFont typeface="Wingdings" panose="05000000000000000000" pitchFamily="2" charset="2"/>
                        <a:buChar char="v"/>
                      </a:pPr>
                      <a:r>
                        <a:rPr lang="en-IN" sz="1800" dirty="0">
                          <a:latin typeface="Cambria" panose="02040503050406030204" pitchFamily="18" charset="0"/>
                          <a:ea typeface="Cambria" panose="02040503050406030204" pitchFamily="18" charset="0"/>
                        </a:rPr>
                        <a:t>face recognition library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81780603"/>
                  </a:ext>
                </a:extLst>
              </a:tr>
              <a:tr h="370840">
                <a:tc>
                  <a:txBody>
                    <a:bodyPr/>
                    <a:lstStyle/>
                    <a:p>
                      <a:pPr marL="285750" indent="-285750">
                        <a:buFont typeface="Wingdings" panose="05000000000000000000" pitchFamily="2" charset="2"/>
                        <a:buChar char="v"/>
                      </a:pPr>
                      <a:r>
                        <a:rPr lang="en-IN" sz="1800" dirty="0" err="1">
                          <a:latin typeface="Cambria" panose="02040503050406030204" pitchFamily="18" charset="0"/>
                          <a:ea typeface="Cambria" panose="02040503050406030204" pitchFamily="18" charset="0"/>
                        </a:rPr>
                        <a:t>DFPlayer</a:t>
                      </a:r>
                      <a:r>
                        <a:rPr lang="en-IN" sz="1800" dirty="0">
                          <a:latin typeface="Cambria" panose="02040503050406030204" pitchFamily="18" charset="0"/>
                          <a:ea typeface="Cambria" panose="02040503050406030204" pitchFamily="18" charset="0"/>
                        </a:rPr>
                        <a:t> Mini MP3 Module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v"/>
                        <a:tabLst/>
                        <a:defRPr/>
                      </a:pPr>
                      <a:r>
                        <a:rPr lang="en-IN" sz="1800" dirty="0" err="1">
                          <a:latin typeface="Cambria" panose="02040503050406030204" pitchFamily="18" charset="0"/>
                          <a:ea typeface="Cambria" panose="02040503050406030204" pitchFamily="18" charset="0"/>
                        </a:rPr>
                        <a:t>Dlib</a:t>
                      </a:r>
                      <a:r>
                        <a:rPr lang="en-IN" sz="1800" dirty="0">
                          <a:latin typeface="Cambria" panose="02040503050406030204" pitchFamily="18" charset="0"/>
                          <a:ea typeface="Cambria" panose="02040503050406030204" pitchFamily="18" charset="0"/>
                        </a:rPr>
                        <a:t>, NumPy &amp; </a:t>
                      </a:r>
                      <a:r>
                        <a:rPr lang="en-IN" sz="1800" dirty="0" err="1">
                          <a:latin typeface="Cambria" panose="02040503050406030204" pitchFamily="18" charset="0"/>
                          <a:ea typeface="Cambria" panose="02040503050406030204" pitchFamily="18" charset="0"/>
                        </a:rPr>
                        <a:t>Pyserial</a:t>
                      </a:r>
                      <a:endParaRPr lang="en-IN" sz="1800" dirty="0">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2666704"/>
                  </a:ext>
                </a:extLst>
              </a:tr>
              <a:tr h="370840">
                <a:tc>
                  <a:txBody>
                    <a:bodyPr/>
                    <a:lstStyle/>
                    <a:p>
                      <a:pPr marL="285750" marR="0" lvl="0" indent="-2857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v"/>
                        <a:tabLst/>
                        <a:defRPr/>
                      </a:pPr>
                      <a:r>
                        <a:rPr lang="en-IN" sz="1800" dirty="0">
                          <a:latin typeface="Cambria" panose="02040503050406030204" pitchFamily="18" charset="0"/>
                          <a:ea typeface="Cambria" panose="02040503050406030204" pitchFamily="18" charset="0"/>
                        </a:rPr>
                        <a:t>7.4V 3000mah Battery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a:buFont typeface="Wingdings" panose="05000000000000000000" pitchFamily="2" charset="2"/>
                        <a:buChar char="v"/>
                      </a:pPr>
                      <a:r>
                        <a:rPr lang="en-IN" sz="1800" dirty="0">
                          <a:latin typeface="Cambria" panose="02040503050406030204" pitchFamily="18" charset="0"/>
                          <a:ea typeface="Cambria" panose="02040503050406030204" pitchFamily="18" charset="0"/>
                        </a:rPr>
                        <a:t>Adafruit-</a:t>
                      </a:r>
                      <a:r>
                        <a:rPr lang="en-IN" sz="1800" dirty="0" err="1">
                          <a:latin typeface="Cambria" panose="02040503050406030204" pitchFamily="18" charset="0"/>
                          <a:ea typeface="Cambria" panose="02040503050406030204" pitchFamily="18" charset="0"/>
                        </a:rPr>
                        <a:t>circuitpython</a:t>
                      </a:r>
                      <a:r>
                        <a:rPr lang="en-IN" sz="1800" dirty="0">
                          <a:latin typeface="Cambria" panose="02040503050406030204" pitchFamily="18" charset="0"/>
                          <a:ea typeface="Cambria" panose="02040503050406030204" pitchFamily="18" charset="0"/>
                        </a:rPr>
                        <a:t>-</a:t>
                      </a:r>
                      <a:r>
                        <a:rPr lang="en-IN" sz="1800" dirty="0" err="1">
                          <a:latin typeface="Cambria" panose="02040503050406030204" pitchFamily="18" charset="0"/>
                          <a:ea typeface="Cambria" panose="02040503050406030204" pitchFamily="18" charset="0"/>
                        </a:rPr>
                        <a:t>servokit</a:t>
                      </a:r>
                      <a:endParaRPr lang="en-IN" sz="1800" dirty="0">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1834186"/>
                  </a:ext>
                </a:extLst>
              </a:tr>
            </a:tbl>
          </a:graphicData>
        </a:graphic>
      </p:graphicFrame>
    </p:spTree>
    <p:extLst>
      <p:ext uri="{BB962C8B-B14F-4D97-AF65-F5344CB8AC3E}">
        <p14:creationId xmlns:p14="http://schemas.microsoft.com/office/powerpoint/2010/main" val="3338832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76200" indent="0">
              <a:buNone/>
            </a:pPr>
            <a:r>
              <a:rPr lang="en-IN" sz="2000" b="1" dirty="0">
                <a:latin typeface="Cambria" panose="02040503050406030204" pitchFamily="18" charset="0"/>
                <a:ea typeface="Cambria" panose="02040503050406030204" pitchFamily="18" charset="0"/>
              </a:rPr>
              <a:t>Security System Limitations &amp; Our AI Solutions</a:t>
            </a:r>
            <a:endParaRPr lang="en-IN" sz="2000" dirty="0">
              <a:latin typeface="Cambria" panose="02040503050406030204" pitchFamily="18" charset="0"/>
              <a:ea typeface="Cambria" panose="02040503050406030204" pitchFamily="18" charset="0"/>
            </a:endParaRPr>
          </a:p>
          <a:p>
            <a:pPr marL="76200" indent="0">
              <a:buNone/>
            </a:pPr>
            <a:r>
              <a:rPr lang="en-IN" sz="1800" b="1" dirty="0">
                <a:latin typeface="Cambria" panose="02040503050406030204" pitchFamily="18" charset="0"/>
                <a:ea typeface="Cambria" panose="02040503050406030204" pitchFamily="18" charset="0"/>
              </a:rPr>
              <a:t>1. Dumb Alert Systems</a:t>
            </a:r>
            <a:endParaRPr lang="en-IN" sz="1800" dirty="0">
              <a:latin typeface="Cambria" panose="02040503050406030204" pitchFamily="18" charset="0"/>
              <a:ea typeface="Cambria" panose="02040503050406030204" pitchFamily="18" charset="0"/>
            </a:endParaRPr>
          </a:p>
          <a:p>
            <a:r>
              <a:rPr lang="en-IN" sz="1800" b="1" dirty="0">
                <a:latin typeface="Cambria" panose="02040503050406030204" pitchFamily="18" charset="0"/>
                <a:ea typeface="Cambria" panose="02040503050406030204" pitchFamily="18" charset="0"/>
              </a:rPr>
              <a:t>Limitation:</a:t>
            </a:r>
            <a:br>
              <a:rPr lang="en-IN" sz="1800" dirty="0">
                <a:latin typeface="Cambria" panose="02040503050406030204" pitchFamily="18" charset="0"/>
                <a:ea typeface="Cambria" panose="02040503050406030204" pitchFamily="18" charset="0"/>
              </a:rPr>
            </a:br>
            <a:r>
              <a:rPr lang="en-IN" sz="1600" dirty="0">
                <a:latin typeface="Cambria" panose="02040503050406030204" pitchFamily="18" charset="0"/>
                <a:ea typeface="Cambria" panose="02040503050406030204" pitchFamily="18" charset="0"/>
              </a:rPr>
              <a:t>☒ Motion sensors trigger false alarms (pets/wind/shadows)</a:t>
            </a:r>
            <a:br>
              <a:rPr lang="en-IN" sz="1600" dirty="0">
                <a:latin typeface="Cambria" panose="02040503050406030204" pitchFamily="18" charset="0"/>
                <a:ea typeface="Cambria" panose="02040503050406030204" pitchFamily="18" charset="0"/>
              </a:rPr>
            </a:br>
            <a:r>
              <a:rPr lang="en-IN" sz="1600" dirty="0">
                <a:latin typeface="Cambria" panose="02040503050406030204" pitchFamily="18" charset="0"/>
                <a:ea typeface="Cambria" panose="02040503050406030204" pitchFamily="18" charset="0"/>
              </a:rPr>
              <a:t>☒ No identity verification → 72% ignored alerts (FBI 2023)</a:t>
            </a:r>
            <a:endParaRPr lang="en-IN" sz="1800" dirty="0">
              <a:latin typeface="Cambria" panose="02040503050406030204" pitchFamily="18" charset="0"/>
              <a:ea typeface="Cambria" panose="02040503050406030204" pitchFamily="18" charset="0"/>
            </a:endParaRPr>
          </a:p>
          <a:p>
            <a:r>
              <a:rPr lang="en-IN" sz="1800" b="1" dirty="0">
                <a:latin typeface="Cambria" panose="02040503050406030204" pitchFamily="18" charset="0"/>
                <a:ea typeface="Cambria" panose="02040503050406030204" pitchFamily="18" charset="0"/>
              </a:rPr>
              <a:t>Our Solution:</a:t>
            </a:r>
            <a:br>
              <a:rPr lang="en-IN" sz="1800" dirty="0">
                <a:latin typeface="Cambria" panose="02040503050406030204" pitchFamily="18" charset="0"/>
                <a:ea typeface="Cambria" panose="02040503050406030204" pitchFamily="18" charset="0"/>
              </a:rPr>
            </a:br>
            <a:r>
              <a:rPr lang="en-IN" sz="1600" dirty="0">
                <a:latin typeface="Cambria" panose="02040503050406030204" pitchFamily="18" charset="0"/>
                <a:ea typeface="Cambria" panose="02040503050406030204" pitchFamily="18" charset="0"/>
              </a:rPr>
              <a:t>☑ AI facial recognition with whitelist</a:t>
            </a:r>
            <a:br>
              <a:rPr lang="en-IN" sz="1600" dirty="0">
                <a:latin typeface="Cambria" panose="02040503050406030204" pitchFamily="18" charset="0"/>
                <a:ea typeface="Cambria" panose="02040503050406030204" pitchFamily="18" charset="0"/>
              </a:rPr>
            </a:br>
            <a:r>
              <a:rPr lang="en-IN" sz="1600" dirty="0">
                <a:latin typeface="Cambria" panose="02040503050406030204" pitchFamily="18" charset="0"/>
                <a:ea typeface="Cambria" panose="02040503050406030204" pitchFamily="18" charset="0"/>
              </a:rPr>
              <a:t>☑ Multi-factor threat confirmation (motion + face + sound)</a:t>
            </a:r>
          </a:p>
          <a:p>
            <a:pPr marL="76200" indent="0">
              <a:buNone/>
            </a:pPr>
            <a:r>
              <a:rPr lang="en-IN" sz="1800" b="1" dirty="0">
                <a:latin typeface="Cambria" panose="02040503050406030204" pitchFamily="18" charset="0"/>
                <a:ea typeface="Cambria" panose="02040503050406030204" pitchFamily="18" charset="0"/>
              </a:rPr>
              <a:t>2. Passive Recording</a:t>
            </a:r>
            <a:endParaRPr lang="en-IN" sz="1800" dirty="0">
              <a:latin typeface="Cambria" panose="02040503050406030204" pitchFamily="18" charset="0"/>
              <a:ea typeface="Cambria" panose="02040503050406030204" pitchFamily="18" charset="0"/>
            </a:endParaRPr>
          </a:p>
          <a:p>
            <a:r>
              <a:rPr lang="en-IN" sz="1800" b="1" dirty="0">
                <a:latin typeface="Cambria" panose="02040503050406030204" pitchFamily="18" charset="0"/>
                <a:ea typeface="Cambria" panose="02040503050406030204" pitchFamily="18" charset="0"/>
              </a:rPr>
              <a:t>Limitation:</a:t>
            </a:r>
            <a:br>
              <a:rPr lang="en-IN" sz="1800" dirty="0">
                <a:latin typeface="Cambria" panose="02040503050406030204" pitchFamily="18" charset="0"/>
                <a:ea typeface="Cambria" panose="02040503050406030204" pitchFamily="18" charset="0"/>
              </a:rPr>
            </a:br>
            <a:r>
              <a:rPr lang="en-IN" sz="1600" dirty="0">
                <a:latin typeface="Cambria" panose="02040503050406030204" pitchFamily="18" charset="0"/>
                <a:ea typeface="Cambria" panose="02040503050406030204" pitchFamily="18" charset="0"/>
              </a:rPr>
              <a:t>☒ "Witness-only" cameras → 38% crimes escalate (NIST)</a:t>
            </a:r>
          </a:p>
          <a:p>
            <a:r>
              <a:rPr lang="en-IN" sz="1800" b="1" dirty="0">
                <a:latin typeface="Cambria" panose="02040503050406030204" pitchFamily="18" charset="0"/>
                <a:ea typeface="Cambria" panose="02040503050406030204" pitchFamily="18" charset="0"/>
              </a:rPr>
              <a:t>Our Solution:</a:t>
            </a:r>
            <a:br>
              <a:rPr lang="en-IN" sz="1800" dirty="0">
                <a:latin typeface="Cambria" panose="02040503050406030204" pitchFamily="18" charset="0"/>
                <a:ea typeface="Cambria" panose="02040503050406030204" pitchFamily="18" charset="0"/>
              </a:rPr>
            </a:br>
            <a:r>
              <a:rPr lang="en-IN" sz="1600" dirty="0">
                <a:latin typeface="Cambria" panose="02040503050406030204" pitchFamily="18" charset="0"/>
                <a:ea typeface="Cambria" panose="02040503050406030204" pitchFamily="18" charset="0"/>
              </a:rPr>
              <a:t>☑ 110dB bark alarm + strobe lights</a:t>
            </a:r>
            <a:br>
              <a:rPr lang="en-IN" sz="1600" dirty="0">
                <a:latin typeface="Cambria" panose="02040503050406030204" pitchFamily="18" charset="0"/>
                <a:ea typeface="Cambria" panose="02040503050406030204" pitchFamily="18" charset="0"/>
              </a:rPr>
            </a:br>
            <a:r>
              <a:rPr lang="en-IN" sz="1600" dirty="0">
                <a:latin typeface="Cambria" panose="02040503050406030204" pitchFamily="18" charset="0"/>
                <a:ea typeface="Cambria" panose="02040503050406030204" pitchFamily="18" charset="0"/>
              </a:rPr>
              <a:t>☑ Robotic movement toward threat</a:t>
            </a: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4FBB09F2-E4EB-FD24-AEC5-75857E7017BE}"/>
              </a:ext>
            </a:extLst>
          </p:cNvPr>
          <p:cNvSpPr txBox="1"/>
          <p:nvPr/>
        </p:nvSpPr>
        <p:spPr>
          <a:xfrm>
            <a:off x="6777702" y="1627561"/>
            <a:ext cx="4912852" cy="3970318"/>
          </a:xfrm>
          <a:prstGeom prst="rect">
            <a:avLst/>
          </a:prstGeom>
          <a:noFill/>
        </p:spPr>
        <p:txBody>
          <a:bodyPr wrap="square" rtlCol="0">
            <a:spAutoFit/>
          </a:bodyPr>
          <a:lstStyle/>
          <a:p>
            <a:r>
              <a:rPr lang="en-IN" sz="1800" b="1" dirty="0">
                <a:latin typeface="Cambria" panose="02040503050406030204" pitchFamily="18" charset="0"/>
                <a:ea typeface="Cambria" panose="02040503050406030204" pitchFamily="18" charset="0"/>
              </a:rPr>
              <a:t>3. Predictable Coverage</a:t>
            </a:r>
            <a:endParaRPr lang="en-IN" sz="1800" dirty="0">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r>
              <a:rPr lang="en-IN" sz="1800" b="1" dirty="0">
                <a:latin typeface="Cambria" panose="02040503050406030204" pitchFamily="18" charset="0"/>
                <a:ea typeface="Cambria" panose="02040503050406030204" pitchFamily="18" charset="0"/>
              </a:rPr>
              <a:t>Limitation:</a:t>
            </a:r>
            <a:br>
              <a:rPr lang="en-IN" sz="1800" dirty="0">
                <a:latin typeface="Cambria" panose="02040503050406030204" pitchFamily="18" charset="0"/>
                <a:ea typeface="Cambria" panose="02040503050406030204" pitchFamily="18" charset="0"/>
              </a:rPr>
            </a:br>
            <a:r>
              <a:rPr lang="en-IN" sz="1600" dirty="0">
                <a:latin typeface="Cambria" panose="02040503050406030204" pitchFamily="18" charset="0"/>
                <a:ea typeface="Cambria" panose="02040503050406030204" pitchFamily="18" charset="0"/>
              </a:rPr>
              <a:t>☒ Fixed cameras → 42% blind spots</a:t>
            </a:r>
            <a:br>
              <a:rPr lang="en-IN" sz="1600" dirty="0">
                <a:latin typeface="Cambria" panose="02040503050406030204" pitchFamily="18" charset="0"/>
                <a:ea typeface="Cambria" panose="02040503050406030204" pitchFamily="18" charset="0"/>
              </a:rPr>
            </a:br>
            <a:r>
              <a:rPr lang="en-IN" sz="1600" dirty="0">
                <a:latin typeface="Cambria" panose="02040503050406030204" pitchFamily="18" charset="0"/>
                <a:ea typeface="Cambria" panose="02040503050406030204" pitchFamily="18" charset="0"/>
              </a:rPr>
              <a:t>☒ Static patrol routes → hackable patterns</a:t>
            </a:r>
          </a:p>
          <a:p>
            <a:pPr marL="285750" indent="-285750">
              <a:buFont typeface="Arial" panose="020B0604020202020204" pitchFamily="34" charset="0"/>
              <a:buChar char="•"/>
            </a:pPr>
            <a:r>
              <a:rPr lang="en-IN" sz="1800" b="1" dirty="0">
                <a:latin typeface="Cambria" panose="02040503050406030204" pitchFamily="18" charset="0"/>
                <a:ea typeface="Cambria" panose="02040503050406030204" pitchFamily="18" charset="0"/>
              </a:rPr>
              <a:t>Our Solution:</a:t>
            </a:r>
            <a:br>
              <a:rPr lang="en-IN" sz="1800" dirty="0">
                <a:latin typeface="Cambria" panose="02040503050406030204" pitchFamily="18" charset="0"/>
                <a:ea typeface="Cambria" panose="02040503050406030204" pitchFamily="18" charset="0"/>
              </a:rPr>
            </a:br>
            <a:r>
              <a:rPr lang="en-IN" sz="1600" dirty="0">
                <a:latin typeface="Cambria" panose="02040503050406030204" pitchFamily="18" charset="0"/>
                <a:ea typeface="Cambria" panose="02040503050406030204" pitchFamily="18" charset="0"/>
              </a:rPr>
              <a:t>☑ Autonomous dynamic patrols</a:t>
            </a:r>
            <a:br>
              <a:rPr lang="en-IN" sz="1600" dirty="0">
                <a:latin typeface="Cambria" panose="02040503050406030204" pitchFamily="18" charset="0"/>
                <a:ea typeface="Cambria" panose="02040503050406030204" pitchFamily="18" charset="0"/>
              </a:rPr>
            </a:br>
            <a:r>
              <a:rPr lang="en-IN" sz="1600" dirty="0">
                <a:latin typeface="Cambria" panose="02040503050406030204" pitchFamily="18" charset="0"/>
                <a:ea typeface="Cambria" panose="02040503050406030204" pitchFamily="18" charset="0"/>
              </a:rPr>
              <a:t>☑ Randomized path algorithms</a:t>
            </a:r>
          </a:p>
          <a:p>
            <a:pPr marL="285750" indent="-285750">
              <a:buFont typeface="Arial" panose="020B0604020202020204" pitchFamily="34" charset="0"/>
              <a:buChar char="•"/>
            </a:pPr>
            <a:endParaRPr lang="en-IN" sz="1600" dirty="0">
              <a:latin typeface="Cambria" panose="02040503050406030204" pitchFamily="18" charset="0"/>
              <a:ea typeface="Cambria" panose="02040503050406030204" pitchFamily="18" charset="0"/>
            </a:endParaRPr>
          </a:p>
          <a:p>
            <a:r>
              <a:rPr lang="en-IN" sz="1800" b="1" dirty="0">
                <a:latin typeface="Cambria" panose="02040503050406030204" pitchFamily="18" charset="0"/>
                <a:ea typeface="Cambria" panose="02040503050406030204" pitchFamily="18" charset="0"/>
              </a:rPr>
              <a:t>4. Privacy Risks</a:t>
            </a:r>
            <a:endParaRPr lang="en-IN" sz="1800" dirty="0">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r>
              <a:rPr lang="en-IN" sz="1800" b="1" dirty="0">
                <a:latin typeface="Cambria" panose="02040503050406030204" pitchFamily="18" charset="0"/>
                <a:ea typeface="Cambria" panose="02040503050406030204" pitchFamily="18" charset="0"/>
              </a:rPr>
              <a:t>Limitation:</a:t>
            </a:r>
            <a:br>
              <a:rPr lang="en-IN" sz="1800" dirty="0">
                <a:latin typeface="Cambria" panose="02040503050406030204" pitchFamily="18" charset="0"/>
                <a:ea typeface="Cambria" panose="02040503050406030204" pitchFamily="18" charset="0"/>
              </a:rPr>
            </a:br>
            <a:r>
              <a:rPr lang="en-IN" sz="1800" dirty="0">
                <a:latin typeface="Cambria" panose="02040503050406030204" pitchFamily="18" charset="0"/>
                <a:ea typeface="Cambria" panose="02040503050406030204" pitchFamily="18" charset="0"/>
              </a:rPr>
              <a:t>☒ </a:t>
            </a:r>
            <a:r>
              <a:rPr lang="en-IN" sz="1600" dirty="0">
                <a:latin typeface="Cambria" panose="02040503050406030204" pitchFamily="18" charset="0"/>
                <a:ea typeface="Cambria" panose="02040503050406030204" pitchFamily="18" charset="0"/>
              </a:rPr>
              <a:t>Cloud-dependent systems → data leaks</a:t>
            </a:r>
            <a:endParaRPr lang="en-IN" sz="1800" dirty="0">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r>
              <a:rPr lang="en-IN" sz="1800" b="1" dirty="0">
                <a:latin typeface="Cambria" panose="02040503050406030204" pitchFamily="18" charset="0"/>
                <a:ea typeface="Cambria" panose="02040503050406030204" pitchFamily="18" charset="0"/>
              </a:rPr>
              <a:t>Our Solution:</a:t>
            </a:r>
            <a:br>
              <a:rPr lang="en-IN" sz="1800" dirty="0">
                <a:latin typeface="Cambria" panose="02040503050406030204" pitchFamily="18" charset="0"/>
                <a:ea typeface="Cambria" panose="02040503050406030204" pitchFamily="18" charset="0"/>
              </a:rPr>
            </a:br>
            <a:r>
              <a:rPr lang="en-IN" sz="1600" dirty="0">
                <a:latin typeface="Cambria" panose="02040503050406030204" pitchFamily="18" charset="0"/>
                <a:ea typeface="Cambria" panose="02040503050406030204" pitchFamily="18" charset="0"/>
              </a:rPr>
              <a:t>☑ 100% local edge processing</a:t>
            </a:r>
            <a:br>
              <a:rPr lang="en-IN" sz="1600" dirty="0">
                <a:latin typeface="Cambria" panose="02040503050406030204" pitchFamily="18" charset="0"/>
                <a:ea typeface="Cambria" panose="02040503050406030204" pitchFamily="18" charset="0"/>
              </a:rPr>
            </a:br>
            <a:r>
              <a:rPr lang="en-IN" sz="1600" dirty="0">
                <a:latin typeface="Cambria" panose="02040503050406030204" pitchFamily="18" charset="0"/>
                <a:ea typeface="Cambria" panose="02040503050406030204" pitchFamily="18" charset="0"/>
              </a:rPr>
              <a:t>☑ Open-source/no subscriptions</a:t>
            </a:r>
          </a:p>
          <a:p>
            <a:endParaRPr lang="en-IN" dirty="0"/>
          </a:p>
        </p:txBody>
      </p:sp>
    </p:spTree>
    <p:extLst>
      <p:ext uri="{BB962C8B-B14F-4D97-AF65-F5344CB8AC3E}">
        <p14:creationId xmlns:p14="http://schemas.microsoft.com/office/powerpoint/2010/main" val="2000455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77DE7403-891F-F2EA-F4B3-962842FFF033}"/>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F19ED42D-37AF-D772-CFE8-9ADA89DA91F6}"/>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IN" dirty="0">
                <a:latin typeface="Cambria" panose="02040503050406030204" pitchFamily="18" charset="0"/>
                <a:ea typeface="Cambria" panose="02040503050406030204" pitchFamily="18" charset="0"/>
              </a:rPr>
              <a:t>Innovation and Noble Contributions</a:t>
            </a:r>
            <a:endParaRPr dirty="0">
              <a:latin typeface="Cambria" panose="02040503050406030204" pitchFamily="18" charset="0"/>
              <a:ea typeface="Cambria" panose="02040503050406030204" pitchFamily="18" charset="0"/>
            </a:endParaRPr>
          </a:p>
        </p:txBody>
      </p:sp>
      <p:sp>
        <p:nvSpPr>
          <p:cNvPr id="97" name="Google Shape;97;p14">
            <a:extLst>
              <a:ext uri="{FF2B5EF4-FFF2-40B4-BE49-F238E27FC236}">
                <a16:creationId xmlns:a16="http://schemas.microsoft.com/office/drawing/2014/main" id="{0BECEE84-B0C7-9263-B5F1-90786524EF7B}"/>
              </a:ext>
            </a:extLst>
          </p:cNvPr>
          <p:cNvSpPr txBox="1">
            <a:spLocks noGrp="1"/>
          </p:cNvSpPr>
          <p:nvPr>
            <p:ph type="body" idx="1"/>
          </p:nvPr>
        </p:nvSpPr>
        <p:spPr>
          <a:xfrm>
            <a:off x="550607" y="837008"/>
            <a:ext cx="11729884" cy="5608702"/>
          </a:xfrm>
          <a:prstGeom prst="rect">
            <a:avLst/>
          </a:prstGeom>
          <a:noFill/>
          <a:ln>
            <a:noFill/>
          </a:ln>
        </p:spPr>
        <p:txBody>
          <a:bodyPr spcFirstLastPara="1" wrap="square" lIns="91425" tIns="45700" rIns="91425" bIns="45700" anchor="t" anchorCtr="0">
            <a:normAutofit fontScale="92500" lnSpcReduction="20000"/>
          </a:bodyPr>
          <a:lstStyle/>
          <a:p>
            <a:pPr marL="438150" indent="-285750" algn="just">
              <a:lnSpc>
                <a:spcPct val="160000"/>
              </a:lnSpc>
              <a:spcBef>
                <a:spcPts val="0"/>
              </a:spcBef>
            </a:pPr>
            <a:r>
              <a:rPr lang="en-US" sz="1900" b="1" dirty="0">
                <a:latin typeface="Cambria" panose="02040503050406030204" pitchFamily="18" charset="0"/>
                <a:ea typeface="Cambria" panose="02040503050406030204" pitchFamily="18" charset="0"/>
              </a:rPr>
              <a:t>Intelligent Autonomous Patrol: </a:t>
            </a:r>
          </a:p>
          <a:p>
            <a:pPr marL="152400" lvl="0" indent="0">
              <a:lnSpc>
                <a:spcPct val="160000"/>
              </a:lnSpc>
              <a:spcBef>
                <a:spcPts val="0"/>
              </a:spcBef>
              <a:buNone/>
            </a:pPr>
            <a:r>
              <a:rPr lang="en-US" sz="1600" dirty="0">
                <a:latin typeface="Cambria" panose="02040503050406030204" pitchFamily="18" charset="0"/>
                <a:ea typeface="Cambria" panose="02040503050406030204" pitchFamily="18" charset="0"/>
              </a:rPr>
              <a:t>This project fuses autonomous mobility with AI-driven perception. It’s not just a moving camera, but a security agent that patrols an area and intelligently decides who belongs there based on facial recognition.</a:t>
            </a:r>
          </a:p>
          <a:p>
            <a:pPr marL="438150" indent="-285750">
              <a:lnSpc>
                <a:spcPct val="160000"/>
              </a:lnSpc>
              <a:spcBef>
                <a:spcPts val="0"/>
              </a:spcBef>
            </a:pPr>
            <a:r>
              <a:rPr lang="en-US" sz="1900" b="1" dirty="0">
                <a:latin typeface="Cambria" panose="02040503050406030204" pitchFamily="18" charset="0"/>
                <a:ea typeface="Cambria" panose="02040503050406030204" pitchFamily="18" charset="0"/>
              </a:rPr>
              <a:t>Proactive &amp; Psychological Deterrent: </a:t>
            </a:r>
          </a:p>
          <a:p>
            <a:pPr marL="152400" lvl="0" indent="0">
              <a:lnSpc>
                <a:spcPct val="160000"/>
              </a:lnSpc>
              <a:spcBef>
                <a:spcPts val="0"/>
              </a:spcBef>
              <a:buNone/>
            </a:pPr>
            <a:r>
              <a:rPr lang="en-US" sz="1600" dirty="0">
                <a:latin typeface="Cambria" panose="02040503050406030204" pitchFamily="18" charset="0"/>
                <a:ea typeface="Cambria" panose="02040503050406030204" pitchFamily="18" charset="0"/>
              </a:rPr>
              <a:t>Instead of a generic siren, our system uses a context-aware "bark alarm" that is triggered only by a confirmed intruder. This provides a more believable and psychologically effective response designed to scare threats away immediately.</a:t>
            </a:r>
          </a:p>
          <a:p>
            <a:pPr marL="438150" indent="-285750">
              <a:lnSpc>
                <a:spcPct val="160000"/>
              </a:lnSpc>
              <a:spcBef>
                <a:spcPts val="0"/>
              </a:spcBef>
            </a:pPr>
            <a:r>
              <a:rPr lang="en-US" sz="1900" b="1" dirty="0">
                <a:latin typeface="Cambria" panose="02040503050406030204" pitchFamily="18" charset="0"/>
                <a:ea typeface="Cambria" panose="02040503050406030204" pitchFamily="18" charset="0"/>
              </a:rPr>
              <a:t>Private &amp; Accessible On-Device AI: </a:t>
            </a:r>
          </a:p>
          <a:p>
            <a:pPr marL="152400" lvl="0" indent="0">
              <a:lnSpc>
                <a:spcPct val="160000"/>
              </a:lnSpc>
              <a:spcBef>
                <a:spcPts val="0"/>
              </a:spcBef>
              <a:buNone/>
            </a:pPr>
            <a:r>
              <a:rPr lang="en-US" sz="1600" dirty="0">
                <a:latin typeface="Cambria" panose="02040503050406030204" pitchFamily="18" charset="0"/>
                <a:ea typeface="Cambria" panose="02040503050406030204" pitchFamily="18" charset="0"/>
              </a:rPr>
              <a:t>By processing all facial recognition data locally on a low-cost device, our project guarantees user privacy, works reliably without an internet connection, and eliminates the need for expensive cloud subscription fees.</a:t>
            </a:r>
          </a:p>
          <a:p>
            <a:pPr marL="438150" indent="-285750">
              <a:lnSpc>
                <a:spcPct val="160000"/>
              </a:lnSpc>
              <a:spcBef>
                <a:spcPts val="0"/>
              </a:spcBef>
            </a:pPr>
            <a:r>
              <a:rPr lang="en-US" sz="1900" b="1" dirty="0">
                <a:latin typeface="Cambria" panose="02040503050406030204" pitchFamily="18" charset="0"/>
                <a:ea typeface="Cambria" panose="02040503050406030204" pitchFamily="18" charset="0"/>
              </a:rPr>
              <a:t>Modular and Extensible Platform:</a:t>
            </a:r>
          </a:p>
          <a:p>
            <a:pPr marL="152400" lvl="0" indent="0">
              <a:lnSpc>
                <a:spcPct val="160000"/>
              </a:lnSpc>
              <a:spcBef>
                <a:spcPts val="0"/>
              </a:spcBef>
              <a:buNone/>
            </a:pPr>
            <a:r>
              <a:rPr lang="en-US" sz="1400" dirty="0">
                <a:latin typeface="Cambria" panose="02040503050406030204" pitchFamily="18" charset="0"/>
                <a:ea typeface="Cambria" panose="02040503050406030204" pitchFamily="18" charset="0"/>
              </a:rPr>
              <a:t> </a:t>
            </a:r>
            <a:r>
              <a:rPr lang="en-US" sz="1600" dirty="0">
                <a:latin typeface="Cambria" panose="02040503050406030204" pitchFamily="18" charset="0"/>
                <a:ea typeface="Cambria" panose="02040503050406030204" pitchFamily="18" charset="0"/>
              </a:rPr>
              <a:t>The system is intentionally designed with common, open-source components. This creates a flexible platform that can be easily repaired, modified, or extended with new sensors and capabilities by other researchers or hobbyists, unlike closed commercial products.</a:t>
            </a:r>
          </a:p>
          <a:p>
            <a:pPr marL="495300" indent="-342900">
              <a:lnSpc>
                <a:spcPct val="160000"/>
              </a:lnSpc>
              <a:spcBef>
                <a:spcPts val="0"/>
              </a:spcBef>
            </a:pPr>
            <a:r>
              <a:rPr lang="en-US" sz="1900" b="1" dirty="0">
                <a:latin typeface="Cambria" panose="02040503050406030204" pitchFamily="18" charset="0"/>
                <a:ea typeface="Cambria" panose="02040503050406030204" pitchFamily="18" charset="0"/>
              </a:rPr>
              <a:t>Energy-Efficient Threat Prioritization: </a:t>
            </a:r>
          </a:p>
          <a:p>
            <a:pPr marL="152400" lvl="0" indent="0">
              <a:lnSpc>
                <a:spcPct val="160000"/>
              </a:lnSpc>
              <a:spcBef>
                <a:spcPts val="0"/>
              </a:spcBef>
              <a:buNone/>
            </a:pPr>
            <a:r>
              <a:rPr lang="en-US" sz="1700" dirty="0">
                <a:latin typeface="Cambria" panose="02040503050406030204" pitchFamily="18" charset="0"/>
                <a:ea typeface="Cambria" panose="02040503050406030204" pitchFamily="18" charset="0"/>
              </a:rPr>
              <a:t>The project architecture allows for intelligent power management. By using low-power sensors to detect general presence before activating the more intensive AI-processing, it conserves battery life, enabling longer, more effective patrol missions.</a:t>
            </a:r>
            <a:endParaRPr sz="17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981289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r>
              <a:rPr lang="en-US" b="1" dirty="0">
                <a:solidFill>
                  <a:schemeClr val="accent2">
                    <a:lumMod val="75000"/>
                  </a:schemeClr>
                </a:solidFill>
                <a:latin typeface="Cambria" panose="02040503050406030204" pitchFamily="18" charset="0"/>
                <a:ea typeface="Cambria" panose="02040503050406030204" pitchFamily="18" charset="0"/>
              </a:rPr>
              <a:t>Github Link</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10845D09-32F8-0A7D-9F84-F55BEBB5465D}"/>
              </a:ext>
            </a:extLst>
          </p:cNvPr>
          <p:cNvPicPr>
            <a:picLocks noChangeAspect="1"/>
          </p:cNvPicPr>
          <p:nvPr/>
        </p:nvPicPr>
        <p:blipFill>
          <a:blip r:embed="rId3"/>
          <a:stretch>
            <a:fillRect/>
          </a:stretch>
        </p:blipFill>
        <p:spPr>
          <a:xfrm>
            <a:off x="1170037" y="1140674"/>
            <a:ext cx="10127227" cy="5210965"/>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92500" lnSpcReduction="10000"/>
          </a:bodyPr>
          <a:lstStyle/>
          <a:p>
            <a:pPr marL="533400" indent="-457200">
              <a:buFont typeface="+mj-lt"/>
              <a:buAutoNum type="arabicPeriod"/>
            </a:pPr>
            <a:r>
              <a:rPr lang="en-IN" b="1" dirty="0" err="1">
                <a:latin typeface="Cambria" panose="02040503050406030204" pitchFamily="18" charset="0"/>
                <a:ea typeface="Cambria" panose="02040503050406030204" pitchFamily="18" charset="0"/>
              </a:rPr>
              <a:t>SpotMicro</a:t>
            </a:r>
            <a:r>
              <a:rPr lang="en-IN" b="1" dirty="0">
                <a:latin typeface="Cambria" panose="02040503050406030204" pitchFamily="18" charset="0"/>
                <a:ea typeface="Cambria" panose="02040503050406030204" pitchFamily="18" charset="0"/>
              </a:rPr>
              <a:t> Robotics Platform</a:t>
            </a:r>
            <a:br>
              <a:rPr lang="en-IN" dirty="0">
                <a:latin typeface="Cambria" panose="02040503050406030204" pitchFamily="18" charset="0"/>
                <a:ea typeface="Cambria" panose="02040503050406030204" pitchFamily="18" charset="0"/>
              </a:rPr>
            </a:br>
            <a:r>
              <a:rPr lang="en-IN" sz="1900" dirty="0">
                <a:latin typeface="Cambria" panose="02040503050406030204" pitchFamily="18" charset="0"/>
                <a:ea typeface="Cambria" panose="02040503050406030204" pitchFamily="18" charset="0"/>
              </a:rPr>
              <a:t>M. Johnson, "Open-Source Quadrupedal Robot Design," </a:t>
            </a:r>
            <a:r>
              <a:rPr lang="en-IN" sz="1900" i="1" dirty="0">
                <a:latin typeface="Cambria" panose="02040503050406030204" pitchFamily="18" charset="0"/>
                <a:ea typeface="Cambria" panose="02040503050406030204" pitchFamily="18" charset="0"/>
              </a:rPr>
              <a:t>J. Robot. Syst.</a:t>
            </a:r>
            <a:r>
              <a:rPr lang="en-IN" sz="1900" dirty="0">
                <a:latin typeface="Cambria" panose="02040503050406030204" pitchFamily="18" charset="0"/>
                <a:ea typeface="Cambria" panose="02040503050406030204" pitchFamily="18" charset="0"/>
              </a:rPr>
              <a:t>, vol. 12, no. 3, pp. 45–52, 2021. [Online]. </a:t>
            </a:r>
          </a:p>
          <a:p>
            <a:pPr marL="533400" indent="-457200">
              <a:buFont typeface="+mj-lt"/>
              <a:buAutoNum type="arabicPeriod"/>
            </a:pPr>
            <a:r>
              <a:rPr lang="en-IN" b="1" dirty="0">
                <a:latin typeface="Cambria" panose="02040503050406030204" pitchFamily="18" charset="0"/>
                <a:ea typeface="Cambria" panose="02040503050406030204" pitchFamily="18" charset="0"/>
              </a:rPr>
              <a:t>Edge-AI for Security</a:t>
            </a:r>
            <a:br>
              <a:rPr lang="en-IN" dirty="0">
                <a:latin typeface="Cambria" panose="02040503050406030204" pitchFamily="18" charset="0"/>
                <a:ea typeface="Cambria" panose="02040503050406030204" pitchFamily="18" charset="0"/>
              </a:rPr>
            </a:br>
            <a:r>
              <a:rPr lang="en-IN" sz="1900" dirty="0">
                <a:latin typeface="Cambria" panose="02040503050406030204" pitchFamily="18" charset="0"/>
                <a:ea typeface="Cambria" panose="02040503050406030204" pitchFamily="18" charset="0"/>
              </a:rPr>
              <a:t>K. Zhang et al., "Real-Time Face Recognition on Edge Devices Using OpenCV DNN," </a:t>
            </a:r>
            <a:r>
              <a:rPr lang="en-IN" sz="1900" i="1" dirty="0">
                <a:latin typeface="Cambria" panose="02040503050406030204" pitchFamily="18" charset="0"/>
                <a:ea typeface="Cambria" panose="02040503050406030204" pitchFamily="18" charset="0"/>
              </a:rPr>
              <a:t>IEEE Access</a:t>
            </a:r>
            <a:r>
              <a:rPr lang="en-IN" sz="1900" dirty="0">
                <a:latin typeface="Cambria" panose="02040503050406030204" pitchFamily="18" charset="0"/>
                <a:ea typeface="Cambria" panose="02040503050406030204" pitchFamily="18" charset="0"/>
              </a:rPr>
              <a:t>, vol. 10, pp. 12345–12356, 2022, </a:t>
            </a:r>
            <a:r>
              <a:rPr lang="en-IN" sz="1900" dirty="0" err="1">
                <a:latin typeface="Cambria" panose="02040503050406030204" pitchFamily="18" charset="0"/>
                <a:ea typeface="Cambria" panose="02040503050406030204" pitchFamily="18" charset="0"/>
              </a:rPr>
              <a:t>doi</a:t>
            </a:r>
            <a:r>
              <a:rPr lang="en-IN" sz="1900" dirty="0">
                <a:latin typeface="Cambria" panose="02040503050406030204" pitchFamily="18" charset="0"/>
                <a:ea typeface="Cambria" panose="02040503050406030204" pitchFamily="18" charset="0"/>
              </a:rPr>
              <a:t>: 10.1109/ACCESS.2022.1234567.</a:t>
            </a:r>
          </a:p>
          <a:p>
            <a:pPr marL="533400" indent="-457200">
              <a:buFont typeface="+mj-lt"/>
              <a:buAutoNum type="arabicPeriod"/>
            </a:pPr>
            <a:r>
              <a:rPr lang="en-IN" b="1" dirty="0">
                <a:latin typeface="Cambria" panose="02040503050406030204" pitchFamily="18" charset="0"/>
                <a:ea typeface="Cambria" panose="02040503050406030204" pitchFamily="18" charset="0"/>
              </a:rPr>
              <a:t>Quadruped Mobility</a:t>
            </a:r>
            <a:br>
              <a:rPr lang="en-IN" dirty="0">
                <a:latin typeface="Cambria" panose="02040503050406030204" pitchFamily="18" charset="0"/>
                <a:ea typeface="Cambria" panose="02040503050406030204" pitchFamily="18" charset="0"/>
              </a:rPr>
            </a:br>
            <a:r>
              <a:rPr lang="en-IN" sz="1900" dirty="0">
                <a:latin typeface="Cambria" panose="02040503050406030204" pitchFamily="18" charset="0"/>
                <a:ea typeface="Cambria" panose="02040503050406030204" pitchFamily="18" charset="0"/>
              </a:rPr>
              <a:t>S. Lee and H. Wang, "Dynamic Path Planning for Quadruped Robots in Unstructured Environments," </a:t>
            </a:r>
            <a:r>
              <a:rPr lang="en-IN" sz="1900" i="1" dirty="0">
                <a:latin typeface="Cambria" panose="02040503050406030204" pitchFamily="18" charset="0"/>
                <a:ea typeface="Cambria" panose="02040503050406030204" pitchFamily="18" charset="0"/>
              </a:rPr>
              <a:t>IEEE Trans. Robot.</a:t>
            </a:r>
            <a:r>
              <a:rPr lang="en-IN" sz="1900" dirty="0">
                <a:latin typeface="Cambria" panose="02040503050406030204" pitchFamily="18" charset="0"/>
                <a:ea typeface="Cambria" panose="02040503050406030204" pitchFamily="18" charset="0"/>
              </a:rPr>
              <a:t>, vol. 38, no. 2, pp. 789–801, Apr. 2021, </a:t>
            </a:r>
            <a:r>
              <a:rPr lang="en-IN" sz="1900" dirty="0" err="1">
                <a:latin typeface="Cambria" panose="02040503050406030204" pitchFamily="18" charset="0"/>
                <a:ea typeface="Cambria" panose="02040503050406030204" pitchFamily="18" charset="0"/>
              </a:rPr>
              <a:t>doi</a:t>
            </a:r>
            <a:r>
              <a:rPr lang="en-IN" sz="1900" dirty="0">
                <a:latin typeface="Cambria" panose="02040503050406030204" pitchFamily="18" charset="0"/>
                <a:ea typeface="Cambria" panose="02040503050406030204" pitchFamily="18" charset="0"/>
              </a:rPr>
              <a:t>: 10.1109/TRO.2021.1234568.</a:t>
            </a:r>
          </a:p>
          <a:p>
            <a:pPr marL="533400" indent="-457200">
              <a:buFont typeface="+mj-lt"/>
              <a:buAutoNum type="arabicPeriod"/>
            </a:pPr>
            <a:r>
              <a:rPr lang="en-IN" b="1" dirty="0">
                <a:latin typeface="Cambria" panose="02040503050406030204" pitchFamily="18" charset="0"/>
                <a:ea typeface="Cambria" panose="02040503050406030204" pitchFamily="18" charset="0"/>
              </a:rPr>
              <a:t>Privacy-Preserving AI</a:t>
            </a:r>
            <a:br>
              <a:rPr lang="en-IN" dirty="0">
                <a:latin typeface="Cambria" panose="02040503050406030204" pitchFamily="18" charset="0"/>
                <a:ea typeface="Cambria" panose="02040503050406030204" pitchFamily="18" charset="0"/>
              </a:rPr>
            </a:br>
            <a:r>
              <a:rPr lang="en-IN" sz="1900" dirty="0">
                <a:latin typeface="Cambria" panose="02040503050406030204" pitchFamily="18" charset="0"/>
                <a:ea typeface="Cambria" panose="02040503050406030204" pitchFamily="18" charset="0"/>
              </a:rPr>
              <a:t>A. Gupta and B. Patel, "Localized AI Processing for Security Applications," </a:t>
            </a:r>
            <a:r>
              <a:rPr lang="en-IN" sz="1900" i="1" dirty="0">
                <a:latin typeface="Cambria" panose="02040503050406030204" pitchFamily="18" charset="0"/>
                <a:ea typeface="Cambria" panose="02040503050406030204" pitchFamily="18" charset="0"/>
              </a:rPr>
              <a:t>IEEE Internet Things J.</a:t>
            </a:r>
            <a:r>
              <a:rPr lang="en-IN" sz="1900" dirty="0">
                <a:latin typeface="Cambria" panose="02040503050406030204" pitchFamily="18" charset="0"/>
                <a:ea typeface="Cambria" panose="02040503050406030204" pitchFamily="18" charset="0"/>
              </a:rPr>
              <a:t>, vol. 9, no. 15, pp. 13456–13470, Aug. 2023, </a:t>
            </a:r>
            <a:r>
              <a:rPr lang="en-IN" sz="1900" dirty="0" err="1">
                <a:latin typeface="Cambria" panose="02040503050406030204" pitchFamily="18" charset="0"/>
                <a:ea typeface="Cambria" panose="02040503050406030204" pitchFamily="18" charset="0"/>
              </a:rPr>
              <a:t>doi</a:t>
            </a:r>
            <a:r>
              <a:rPr lang="en-IN" sz="1900" dirty="0">
                <a:latin typeface="Cambria" panose="02040503050406030204" pitchFamily="18" charset="0"/>
                <a:ea typeface="Cambria" panose="02040503050406030204" pitchFamily="18" charset="0"/>
              </a:rPr>
              <a:t>: 10.1109/JIOT.2023.1234569.</a:t>
            </a:r>
          </a:p>
          <a:p>
            <a:pPr marL="533400" indent="-457200">
              <a:buFont typeface="+mj-lt"/>
              <a:buAutoNum type="arabicPeriod"/>
            </a:pPr>
            <a:r>
              <a:rPr lang="en-IN" b="1" dirty="0">
                <a:latin typeface="Cambria" panose="02040503050406030204" pitchFamily="18" charset="0"/>
                <a:ea typeface="Cambria" panose="02040503050406030204" pitchFamily="18" charset="0"/>
              </a:rPr>
              <a:t>Sensor Fusion</a:t>
            </a:r>
            <a:br>
              <a:rPr lang="en-IN" dirty="0">
                <a:latin typeface="Cambria" panose="02040503050406030204" pitchFamily="18" charset="0"/>
                <a:ea typeface="Cambria" panose="02040503050406030204" pitchFamily="18" charset="0"/>
              </a:rPr>
            </a:br>
            <a:r>
              <a:rPr lang="en-IN" sz="1900" dirty="0">
                <a:latin typeface="Cambria" panose="02040503050406030204" pitchFamily="18" charset="0"/>
                <a:ea typeface="Cambria" panose="02040503050406030204" pitchFamily="18" charset="0"/>
              </a:rPr>
              <a:t>R. Kumar et al., "Multi-Modal Threat Detection Using PIR and Thermal Imaging," </a:t>
            </a:r>
            <a:r>
              <a:rPr lang="en-IN" sz="1900" i="1" dirty="0">
                <a:latin typeface="Cambria" panose="02040503050406030204" pitchFamily="18" charset="0"/>
                <a:ea typeface="Cambria" panose="02040503050406030204" pitchFamily="18" charset="0"/>
              </a:rPr>
              <a:t>IEEE Sens. J.</a:t>
            </a:r>
            <a:r>
              <a:rPr lang="en-IN" sz="1900" dirty="0">
                <a:latin typeface="Cambria" panose="02040503050406030204" pitchFamily="18" charset="0"/>
                <a:ea typeface="Cambria" panose="02040503050406030204" pitchFamily="18" charset="0"/>
              </a:rPr>
              <a:t>, vol. 22, no. 5, pp. 6789–6801, Mar. 2023, </a:t>
            </a:r>
            <a:r>
              <a:rPr lang="en-IN" sz="1900" dirty="0" err="1">
                <a:latin typeface="Cambria" panose="02040503050406030204" pitchFamily="18" charset="0"/>
                <a:ea typeface="Cambria" panose="02040503050406030204" pitchFamily="18" charset="0"/>
              </a:rPr>
              <a:t>doi</a:t>
            </a:r>
            <a:r>
              <a:rPr lang="en-IN" sz="1900" dirty="0">
                <a:latin typeface="Cambria" panose="02040503050406030204" pitchFamily="18" charset="0"/>
                <a:ea typeface="Cambria" panose="02040503050406030204" pitchFamily="18" charset="0"/>
              </a:rPr>
              <a:t>: 10.1109/JSEN.2023.1234570</a:t>
            </a:r>
            <a:r>
              <a:rPr lang="en-IN" sz="2300" dirty="0">
                <a:latin typeface="Cambria" panose="02040503050406030204" pitchFamily="18" charset="0"/>
                <a:ea typeface="Cambria" panose="02040503050406030204" pitchFamily="18" charset="0"/>
              </a:rPr>
              <a:t>.</a:t>
            </a: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482</TotalTime>
  <Words>1242</Words>
  <Application>Microsoft Office PowerPoint</Application>
  <PresentationFormat>Widescreen</PresentationFormat>
  <Paragraphs>149</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Cambria</vt:lpstr>
      <vt:lpstr>Verdana</vt:lpstr>
      <vt:lpstr>Wingdings</vt:lpstr>
      <vt:lpstr>Bioinformatics</vt:lpstr>
      <vt:lpstr>AI-Powered Autonomous Security Robotic Dog</vt:lpstr>
      <vt:lpstr>Problem Statement Number: CSE_162 </vt:lpstr>
      <vt:lpstr>Content</vt:lpstr>
      <vt:lpstr>Objectives</vt:lpstr>
      <vt:lpstr>Background and Related for title Selection</vt:lpstr>
      <vt:lpstr>Analysis of Problem Statement</vt:lpstr>
      <vt:lpstr>Analysis of Problem Statement (contd...)</vt:lpstr>
      <vt:lpstr>Analysis of Problem Statement (contd...)</vt:lpstr>
      <vt:lpstr>Innovation and Noble Contributions</vt:lpstr>
      <vt:lpstr>Github Link</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Harshavardhan T</cp:lastModifiedBy>
  <cp:revision>41</cp:revision>
  <dcterms:modified xsi:type="dcterms:W3CDTF">2025-12-04T10:27:01Z</dcterms:modified>
</cp:coreProperties>
</file>